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72" r:id="rId3"/>
    <p:sldId id="276" r:id="rId4"/>
    <p:sldId id="258" r:id="rId5"/>
    <p:sldId id="277" r:id="rId6"/>
    <p:sldId id="260" r:id="rId7"/>
    <p:sldId id="261" r:id="rId8"/>
    <p:sldId id="262" r:id="rId9"/>
    <p:sldId id="278" r:id="rId10"/>
    <p:sldId id="263" r:id="rId11"/>
    <p:sldId id="264" r:id="rId12"/>
    <p:sldId id="265" r:id="rId13"/>
    <p:sldId id="259" r:id="rId14"/>
    <p:sldId id="266" r:id="rId15"/>
    <p:sldId id="282" r:id="rId16"/>
    <p:sldId id="273" r:id="rId17"/>
    <p:sldId id="274" r:id="rId18"/>
    <p:sldId id="283" r:id="rId19"/>
    <p:sldId id="267" r:id="rId20"/>
    <p:sldId id="279" r:id="rId21"/>
    <p:sldId id="268" r:id="rId22"/>
    <p:sldId id="269" r:id="rId23"/>
    <p:sldId id="270" r:id="rId24"/>
    <p:sldId id="280" r:id="rId25"/>
    <p:sldId id="284" r:id="rId26"/>
    <p:sldId id="281" r:id="rId27"/>
  </p:sldIdLst>
  <p:sldSz cx="12192000" cy="6858000"/>
  <p:notesSz cx="7099300" cy="10234613"/>
  <p:embeddedFontLst>
    <p:embeddedFont>
      <p:font typeface="Pretendard SemiBold" panose="020B0600000101010101" charset="-127"/>
      <p:regular r:id="rId29"/>
      <p:bold r:id="rId29"/>
    </p:embeddedFont>
    <p:embeddedFont>
      <p:font typeface="Noto Sans KR Black" panose="020B0200000000000000" pitchFamily="50" charset="-127"/>
      <p:bold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EFE0"/>
    <a:srgbClr val="14B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E4729D-D229-48EA-976F-5601EAAB71C6}" type="doc">
      <dgm:prSet loTypeId="urn:microsoft.com/office/officeart/2005/8/layout/chevron1" loCatId="process" qsTypeId="urn:microsoft.com/office/officeart/2005/8/quickstyle/3d3" qsCatId="3D" csTypeId="urn:microsoft.com/office/officeart/2005/8/colors/accent1_2" csCatId="accent1" phldr="1"/>
      <dgm:spPr/>
    </dgm:pt>
    <dgm:pt modelId="{585BF1EF-2D14-4DB2-9E4D-86624761C9D3}">
      <dgm:prSet phldrT="[텍스트]"/>
      <dgm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dgm:spPr>
      <dgm:t>
        <a:bodyPr/>
        <a:lstStyle/>
        <a:p>
          <a:pPr latinLnBrk="1"/>
          <a:r>
            <a: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학생이력</a:t>
          </a:r>
          <a:endParaRPr lang="en-US" altLang="ko-KR" dirty="0">
            <a:latin typeface="Noto Sans KR Black" panose="020B0200000000000000" pitchFamily="50" charset="-127"/>
            <a:ea typeface="Noto Sans KR Black" panose="020B0200000000000000" pitchFamily="50" charset="-127"/>
          </a:endParaRPr>
        </a:p>
        <a:p>
          <a:pPr latinLnBrk="1"/>
          <a:r>
            <a: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관리시스템</a:t>
          </a:r>
        </a:p>
      </dgm:t>
    </dgm:pt>
    <dgm:pt modelId="{342C42C6-3E73-4A31-A966-497621380B7D}" type="parTrans" cxnId="{0F7CCC3C-C473-4131-8DF7-5FA58ED3DEB6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1C02E1B8-BA31-435C-8205-C16D59ED1915}" type="sibTrans" cxnId="{0F7CCC3C-C473-4131-8DF7-5FA58ED3DEB6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3A423460-5CE8-4FA5-AFBD-D92D975495F2}">
      <dgm:prSet phldrT="[텍스트]"/>
      <dgm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dgm:spPr>
      <dgm:t>
        <a:bodyPr/>
        <a:lstStyle/>
        <a:p>
          <a:pPr latinLnBrk="1"/>
          <a:r>
            <a:rPr lang="ko-KR" altLang="en-US" dirty="0" err="1">
              <a:latin typeface="Noto Sans KR Black" panose="020B0200000000000000" pitchFamily="50" charset="-127"/>
              <a:ea typeface="Noto Sans KR Black" panose="020B0200000000000000" pitchFamily="50" charset="-127"/>
            </a:rPr>
            <a:t>비교과</a:t>
          </a:r>
          <a:endParaRPr lang="ko-KR" altLang="en-US" dirty="0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6CC39025-49A6-4E5A-9F2A-45C87F5E6FD0}" type="parTrans" cxnId="{C008323A-E93A-4EC6-8B51-E4C45D28E83A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69E7D1EC-D63E-4D51-8780-47C56F692CED}" type="sibTrans" cxnId="{C008323A-E93A-4EC6-8B51-E4C45D28E83A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B333DF73-2BDD-497A-972A-9C46DFAA6DF9}">
      <dgm:prSet phldrT="[텍스트]"/>
      <dgm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dgm:spPr>
      <dgm:t>
        <a:bodyPr/>
        <a:lstStyle/>
        <a:p>
          <a:pPr latinLnBrk="1"/>
          <a:r>
            <a: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동아리</a:t>
          </a:r>
        </a:p>
      </dgm:t>
    </dgm:pt>
    <dgm:pt modelId="{2BE645EE-BE32-4769-A3F9-D85DF2A78881}" type="parTrans" cxnId="{3FD30858-F517-463E-88D4-7942E2BFD107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FC5C1B33-5AD6-45EA-8845-9EBEDB2419A8}" type="sibTrans" cxnId="{3FD30858-F517-463E-88D4-7942E2BFD107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6FEE91D2-DEB6-4DF8-9FC1-CDDE908E765A}">
      <dgm:prSet phldrT="[텍스트]"/>
      <dgm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dgm:spPr>
      <dgm:t>
        <a:bodyPr/>
        <a:lstStyle/>
        <a:p>
          <a:pPr latinLnBrk="1"/>
          <a:r>
            <a: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활동현황</a:t>
          </a:r>
        </a:p>
      </dgm:t>
    </dgm:pt>
    <dgm:pt modelId="{877FD6FA-0D27-4032-AB02-EAD0E49F6F6D}" type="parTrans" cxnId="{A0F86478-F24A-41A2-B909-DE87FCC91B9D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473A4345-507C-4911-B63A-A9FB79E5C328}" type="sibTrans" cxnId="{A0F86478-F24A-41A2-B909-DE87FCC91B9D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D792730F-583D-41F1-A0BE-69A038207E92}">
      <dgm:prSet phldrT="[텍스트]"/>
      <dgm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dgm:spPr>
      <dgm:t>
        <a:bodyPr/>
        <a:lstStyle/>
        <a:p>
          <a:pPr latinLnBrk="1"/>
          <a:r>
            <a: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구성원</a:t>
          </a:r>
        </a:p>
      </dgm:t>
    </dgm:pt>
    <dgm:pt modelId="{DD0B57BF-2516-4EA8-B1A2-E8EE597F7411}" type="parTrans" cxnId="{E9574279-35A8-46C0-8B1A-14E2AD6EAFB1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BA401838-48A1-4CF1-B1C7-408EA454AA0D}" type="sibTrans" cxnId="{E9574279-35A8-46C0-8B1A-14E2AD6EAFB1}">
      <dgm:prSet/>
      <dgm:spPr/>
      <dgm:t>
        <a:bodyPr/>
        <a:lstStyle/>
        <a:p>
          <a:pPr latinLnBrk="1"/>
          <a:endParaRPr lang="ko-KR" altLang="en-US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gm:t>
    </dgm:pt>
    <dgm:pt modelId="{F7873137-A48A-427B-85EE-63F84F27517E}" type="pres">
      <dgm:prSet presAssocID="{40E4729D-D229-48EA-976F-5601EAAB71C6}" presName="Name0" presStyleCnt="0">
        <dgm:presLayoutVars>
          <dgm:dir/>
          <dgm:animLvl val="lvl"/>
          <dgm:resizeHandles val="exact"/>
        </dgm:presLayoutVars>
      </dgm:prSet>
      <dgm:spPr/>
    </dgm:pt>
    <dgm:pt modelId="{8B0B43C8-74D0-48F8-9EA6-EC4F4B5627D1}" type="pres">
      <dgm:prSet presAssocID="{585BF1EF-2D14-4DB2-9E4D-86624761C9D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31B72F6-69BE-4D0F-A861-F7D2F973395D}" type="pres">
      <dgm:prSet presAssocID="{1C02E1B8-BA31-435C-8205-C16D59ED1915}" presName="parTxOnlySpace" presStyleCnt="0"/>
      <dgm:spPr/>
    </dgm:pt>
    <dgm:pt modelId="{123E8C6F-ED4B-4F9A-BF94-C5E10561D5B7}" type="pres">
      <dgm:prSet presAssocID="{3A423460-5CE8-4FA5-AFBD-D92D975495F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92FD436D-C334-466B-A4AA-7E37085C7F14}" type="pres">
      <dgm:prSet presAssocID="{69E7D1EC-D63E-4D51-8780-47C56F692CED}" presName="parTxOnlySpace" presStyleCnt="0"/>
      <dgm:spPr/>
    </dgm:pt>
    <dgm:pt modelId="{1E576BFF-1C81-4FF9-992E-103E7ADB1F45}" type="pres">
      <dgm:prSet presAssocID="{B333DF73-2BDD-497A-972A-9C46DFAA6DF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6F2658C-7614-4C14-AD9E-F519D9BA565F}" type="pres">
      <dgm:prSet presAssocID="{FC5C1B33-5AD6-45EA-8845-9EBEDB2419A8}" presName="parTxOnlySpace" presStyleCnt="0"/>
      <dgm:spPr/>
    </dgm:pt>
    <dgm:pt modelId="{34D08B11-3AE6-47F8-99A5-0134C7853C7A}" type="pres">
      <dgm:prSet presAssocID="{6FEE91D2-DEB6-4DF8-9FC1-CDDE908E765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EA19E545-11C6-432D-A674-1B810E7C2267}" type="pres">
      <dgm:prSet presAssocID="{473A4345-507C-4911-B63A-A9FB79E5C328}" presName="parTxOnlySpace" presStyleCnt="0"/>
      <dgm:spPr/>
    </dgm:pt>
    <dgm:pt modelId="{B37A6947-5278-4E3B-87B0-60A5B3F9B204}" type="pres">
      <dgm:prSet presAssocID="{D792730F-583D-41F1-A0BE-69A038207E9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008323A-E93A-4EC6-8B51-E4C45D28E83A}" srcId="{40E4729D-D229-48EA-976F-5601EAAB71C6}" destId="{3A423460-5CE8-4FA5-AFBD-D92D975495F2}" srcOrd="1" destOrd="0" parTransId="{6CC39025-49A6-4E5A-9F2A-45C87F5E6FD0}" sibTransId="{69E7D1EC-D63E-4D51-8780-47C56F692CED}"/>
    <dgm:cxn modelId="{0F7CCC3C-C473-4131-8DF7-5FA58ED3DEB6}" srcId="{40E4729D-D229-48EA-976F-5601EAAB71C6}" destId="{585BF1EF-2D14-4DB2-9E4D-86624761C9D3}" srcOrd="0" destOrd="0" parTransId="{342C42C6-3E73-4A31-A966-497621380B7D}" sibTransId="{1C02E1B8-BA31-435C-8205-C16D59ED1915}"/>
    <dgm:cxn modelId="{3FD30858-F517-463E-88D4-7942E2BFD107}" srcId="{40E4729D-D229-48EA-976F-5601EAAB71C6}" destId="{B333DF73-2BDD-497A-972A-9C46DFAA6DF9}" srcOrd="2" destOrd="0" parTransId="{2BE645EE-BE32-4769-A3F9-D85DF2A78881}" sibTransId="{FC5C1B33-5AD6-45EA-8845-9EBEDB2419A8}"/>
    <dgm:cxn modelId="{A0F86478-F24A-41A2-B909-DE87FCC91B9D}" srcId="{40E4729D-D229-48EA-976F-5601EAAB71C6}" destId="{6FEE91D2-DEB6-4DF8-9FC1-CDDE908E765A}" srcOrd="3" destOrd="0" parTransId="{877FD6FA-0D27-4032-AB02-EAD0E49F6F6D}" sibTransId="{473A4345-507C-4911-B63A-A9FB79E5C328}"/>
    <dgm:cxn modelId="{E9574279-35A8-46C0-8B1A-14E2AD6EAFB1}" srcId="{40E4729D-D229-48EA-976F-5601EAAB71C6}" destId="{D792730F-583D-41F1-A0BE-69A038207E92}" srcOrd="4" destOrd="0" parTransId="{DD0B57BF-2516-4EA8-B1A2-E8EE597F7411}" sibTransId="{BA401838-48A1-4CF1-B1C7-408EA454AA0D}"/>
    <dgm:cxn modelId="{7E165F9A-90CE-48D9-971E-98F665E9B0CD}" type="presOf" srcId="{D792730F-583D-41F1-A0BE-69A038207E92}" destId="{B37A6947-5278-4E3B-87B0-60A5B3F9B204}" srcOrd="0" destOrd="0" presId="urn:microsoft.com/office/officeart/2005/8/layout/chevron1"/>
    <dgm:cxn modelId="{45260DB1-EAE2-4AC1-8343-D36E8D456E9D}" type="presOf" srcId="{40E4729D-D229-48EA-976F-5601EAAB71C6}" destId="{F7873137-A48A-427B-85EE-63F84F27517E}" srcOrd="0" destOrd="0" presId="urn:microsoft.com/office/officeart/2005/8/layout/chevron1"/>
    <dgm:cxn modelId="{C4A073C5-3442-43C2-BFE0-7A6792CBB7F5}" type="presOf" srcId="{B333DF73-2BDD-497A-972A-9C46DFAA6DF9}" destId="{1E576BFF-1C81-4FF9-992E-103E7ADB1F45}" srcOrd="0" destOrd="0" presId="urn:microsoft.com/office/officeart/2005/8/layout/chevron1"/>
    <dgm:cxn modelId="{CFFDD9C6-A527-497B-BCC4-2F11D4048AF3}" type="presOf" srcId="{6FEE91D2-DEB6-4DF8-9FC1-CDDE908E765A}" destId="{34D08B11-3AE6-47F8-99A5-0134C7853C7A}" srcOrd="0" destOrd="0" presId="urn:microsoft.com/office/officeart/2005/8/layout/chevron1"/>
    <dgm:cxn modelId="{867C24D8-AF5E-4F86-8848-2F9B915CD510}" type="presOf" srcId="{3A423460-5CE8-4FA5-AFBD-D92D975495F2}" destId="{123E8C6F-ED4B-4F9A-BF94-C5E10561D5B7}" srcOrd="0" destOrd="0" presId="urn:microsoft.com/office/officeart/2005/8/layout/chevron1"/>
    <dgm:cxn modelId="{8DC61DE4-1552-406A-9FEA-7F7FCE27BBEF}" type="presOf" srcId="{585BF1EF-2D14-4DB2-9E4D-86624761C9D3}" destId="{8B0B43C8-74D0-48F8-9EA6-EC4F4B5627D1}" srcOrd="0" destOrd="0" presId="urn:microsoft.com/office/officeart/2005/8/layout/chevron1"/>
    <dgm:cxn modelId="{090DCFDB-2B67-42EB-9D66-C62A46BB59C0}" type="presParOf" srcId="{F7873137-A48A-427B-85EE-63F84F27517E}" destId="{8B0B43C8-74D0-48F8-9EA6-EC4F4B5627D1}" srcOrd="0" destOrd="0" presId="urn:microsoft.com/office/officeart/2005/8/layout/chevron1"/>
    <dgm:cxn modelId="{A660AADC-622C-49D3-B660-DCCC44517CCF}" type="presParOf" srcId="{F7873137-A48A-427B-85EE-63F84F27517E}" destId="{B31B72F6-69BE-4D0F-A861-F7D2F973395D}" srcOrd="1" destOrd="0" presId="urn:microsoft.com/office/officeart/2005/8/layout/chevron1"/>
    <dgm:cxn modelId="{9A805C99-7012-44A5-B705-8F2E7520BD21}" type="presParOf" srcId="{F7873137-A48A-427B-85EE-63F84F27517E}" destId="{123E8C6F-ED4B-4F9A-BF94-C5E10561D5B7}" srcOrd="2" destOrd="0" presId="urn:microsoft.com/office/officeart/2005/8/layout/chevron1"/>
    <dgm:cxn modelId="{D4058167-362A-428C-B18F-3A570B71F032}" type="presParOf" srcId="{F7873137-A48A-427B-85EE-63F84F27517E}" destId="{92FD436D-C334-466B-A4AA-7E37085C7F14}" srcOrd="3" destOrd="0" presId="urn:microsoft.com/office/officeart/2005/8/layout/chevron1"/>
    <dgm:cxn modelId="{D9FF438C-E3F3-478E-BD50-4EC398715B72}" type="presParOf" srcId="{F7873137-A48A-427B-85EE-63F84F27517E}" destId="{1E576BFF-1C81-4FF9-992E-103E7ADB1F45}" srcOrd="4" destOrd="0" presId="urn:microsoft.com/office/officeart/2005/8/layout/chevron1"/>
    <dgm:cxn modelId="{16933658-B40C-4F0C-B340-E09AB0E42A4A}" type="presParOf" srcId="{F7873137-A48A-427B-85EE-63F84F27517E}" destId="{D6F2658C-7614-4C14-AD9E-F519D9BA565F}" srcOrd="5" destOrd="0" presId="urn:microsoft.com/office/officeart/2005/8/layout/chevron1"/>
    <dgm:cxn modelId="{53C81130-C46A-4F5F-8124-319ECE2F1815}" type="presParOf" srcId="{F7873137-A48A-427B-85EE-63F84F27517E}" destId="{34D08B11-3AE6-47F8-99A5-0134C7853C7A}" srcOrd="6" destOrd="0" presId="urn:microsoft.com/office/officeart/2005/8/layout/chevron1"/>
    <dgm:cxn modelId="{2EA66F1D-B753-4C67-9E41-69BC8A824A62}" type="presParOf" srcId="{F7873137-A48A-427B-85EE-63F84F27517E}" destId="{EA19E545-11C6-432D-A674-1B810E7C2267}" srcOrd="7" destOrd="0" presId="urn:microsoft.com/office/officeart/2005/8/layout/chevron1"/>
    <dgm:cxn modelId="{CA695337-FBB5-44F9-8B93-56E94E6BA82D}" type="presParOf" srcId="{F7873137-A48A-427B-85EE-63F84F27517E}" destId="{B37A6947-5278-4E3B-87B0-60A5B3F9B2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B43C8-74D0-48F8-9EA6-EC4F4B5627D1}">
      <dsp:nvSpPr>
        <dsp:cNvPr id="0" name=""/>
        <dsp:cNvSpPr/>
      </dsp:nvSpPr>
      <dsp:spPr>
        <a:xfrm>
          <a:off x="2011" y="157717"/>
          <a:ext cx="1790239" cy="716095"/>
        </a:xfrm>
        <a:prstGeom prst="chevron">
          <a:avLst/>
        </a:prstGeom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학생이력</a:t>
          </a:r>
          <a:endParaRPr lang="en-US" altLang="ko-KR" sz="1300" kern="1200" dirty="0">
            <a:latin typeface="Noto Sans KR Black" panose="020B0200000000000000" pitchFamily="50" charset="-127"/>
            <a:ea typeface="Noto Sans KR Black" panose="020B0200000000000000" pitchFamily="50" charset="-127"/>
          </a:endParaRP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관리시스템</a:t>
          </a:r>
        </a:p>
      </dsp:txBody>
      <dsp:txXfrm>
        <a:off x="360059" y="157717"/>
        <a:ext cx="1074144" cy="716095"/>
      </dsp:txXfrm>
    </dsp:sp>
    <dsp:sp modelId="{123E8C6F-ED4B-4F9A-BF94-C5E10561D5B7}">
      <dsp:nvSpPr>
        <dsp:cNvPr id="0" name=""/>
        <dsp:cNvSpPr/>
      </dsp:nvSpPr>
      <dsp:spPr>
        <a:xfrm>
          <a:off x="1613227" y="157717"/>
          <a:ext cx="1790239" cy="716095"/>
        </a:xfrm>
        <a:prstGeom prst="chevron">
          <a:avLst/>
        </a:prstGeom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 err="1">
              <a:latin typeface="Noto Sans KR Black" panose="020B0200000000000000" pitchFamily="50" charset="-127"/>
              <a:ea typeface="Noto Sans KR Black" panose="020B0200000000000000" pitchFamily="50" charset="-127"/>
            </a:rPr>
            <a:t>비교과</a:t>
          </a:r>
          <a:endParaRPr lang="ko-KR" altLang="en-US" sz="1300" kern="1200" dirty="0">
            <a:latin typeface="Noto Sans KR Black" panose="020B0200000000000000" pitchFamily="50" charset="-127"/>
            <a:ea typeface="Noto Sans KR Black" panose="020B0200000000000000" pitchFamily="50" charset="-127"/>
          </a:endParaRPr>
        </a:p>
      </dsp:txBody>
      <dsp:txXfrm>
        <a:off x="1971275" y="157717"/>
        <a:ext cx="1074144" cy="716095"/>
      </dsp:txXfrm>
    </dsp:sp>
    <dsp:sp modelId="{1E576BFF-1C81-4FF9-992E-103E7ADB1F45}">
      <dsp:nvSpPr>
        <dsp:cNvPr id="0" name=""/>
        <dsp:cNvSpPr/>
      </dsp:nvSpPr>
      <dsp:spPr>
        <a:xfrm>
          <a:off x="3224443" y="157717"/>
          <a:ext cx="1790239" cy="716095"/>
        </a:xfrm>
        <a:prstGeom prst="chevron">
          <a:avLst/>
        </a:prstGeom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동아리</a:t>
          </a:r>
        </a:p>
      </dsp:txBody>
      <dsp:txXfrm>
        <a:off x="3582491" y="157717"/>
        <a:ext cx="1074144" cy="716095"/>
      </dsp:txXfrm>
    </dsp:sp>
    <dsp:sp modelId="{34D08B11-3AE6-47F8-99A5-0134C7853C7A}">
      <dsp:nvSpPr>
        <dsp:cNvPr id="0" name=""/>
        <dsp:cNvSpPr/>
      </dsp:nvSpPr>
      <dsp:spPr>
        <a:xfrm>
          <a:off x="4835659" y="157717"/>
          <a:ext cx="1790239" cy="716095"/>
        </a:xfrm>
        <a:prstGeom prst="chevron">
          <a:avLst/>
        </a:prstGeom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활동현황</a:t>
          </a:r>
        </a:p>
      </dsp:txBody>
      <dsp:txXfrm>
        <a:off x="5193707" y="157717"/>
        <a:ext cx="1074144" cy="716095"/>
      </dsp:txXfrm>
    </dsp:sp>
    <dsp:sp modelId="{B37A6947-5278-4E3B-87B0-60A5B3F9B204}">
      <dsp:nvSpPr>
        <dsp:cNvPr id="0" name=""/>
        <dsp:cNvSpPr/>
      </dsp:nvSpPr>
      <dsp:spPr>
        <a:xfrm>
          <a:off x="6446875" y="157717"/>
          <a:ext cx="1790239" cy="716095"/>
        </a:xfrm>
        <a:prstGeom prst="chevron">
          <a:avLst/>
        </a:prstGeom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Noto Sans KR Black" panose="020B0200000000000000" pitchFamily="50" charset="-127"/>
              <a:ea typeface="Noto Sans KR Black" panose="020B0200000000000000" pitchFamily="50" charset="-127"/>
            </a:rPr>
            <a:t>구성원</a:t>
          </a:r>
        </a:p>
      </dsp:txBody>
      <dsp:txXfrm>
        <a:off x="6804923" y="157717"/>
        <a:ext cx="1074144" cy="716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4768" tIns="47384" rIns="94768" bIns="47384"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4768" tIns="47384" rIns="94768" bIns="47384"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4768" tIns="47384" rIns="94768" bIns="47384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4768" tIns="47384" rIns="94768" bIns="47384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4768" tIns="47384" rIns="94768" bIns="47384"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4768" tIns="47384" rIns="94768" bIns="47384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- 2026_2학기_동아리_간담회_리디자인.pptx의 구성과 디자인을 기준으로 제작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defTabSz="947684">
              <a:defRPr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defTabSz="947684">
              <a:defRPr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defTabSz="947684">
              <a:defRPr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  <a:p>
            <a:r>
              <a:t>- 원본 슬라이드의 활동보고서 예시 캡처 이미지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  <a:p>
            <a:r>
              <a:t>- 원본 슬라이드의 동아리 활동사진 2장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defTabSz="947684">
              <a:defRPr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  <a:p>
            <a:r>
              <a:t>- 원본 슬라이드의 증빙서류 예시 이미지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  <a:p>
            <a:r>
              <a:t>- 원본 슬라이드의 증빙서류 예시 이미지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4762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  <a:p>
            <a:r>
              <a:t>- 원본 슬라이드의 증빙서류 예시 이미지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1073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  <a:p>
            <a:r>
              <a:t>- 원본 슬라이드의 증빙서류 예시 이미지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4185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9860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defTabSz="947684">
              <a:defRPr/>
            </a:pPr>
            <a:endParaRPr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1159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3360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자료: 2026_2학기-간담회.pptx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688E186-96A9-448B-8811-384C0B835C1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2381250"/>
          </a:xfrm>
          <a:prstGeom prst="ellipse">
            <a:avLst/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6" name="직사각형 15"/>
          <p:cNvSpPr/>
          <p:nvPr/>
        </p:nvSpPr>
        <p:spPr>
          <a:xfrm>
            <a:off x="0" y="1"/>
            <a:ext cx="121920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5DD8B6-4BA0-481B-B4B4-7A4FE13FD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2095DB-F008-4D4E-AB46-7C8FF1E7D79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1905000" cy="190500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D5C2C4-A744-4FE8-82A7-950E0BCD794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2026–2학기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263E0C-18CA-4EC1-83BF-C16F4981FEA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5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51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51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51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간담회</a:t>
            </a:r>
            <a:r>
              <a:rPr lang="en-US" sz="51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51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배포용</a:t>
            </a:r>
            <a:endParaRPr sz="51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808C3-60FB-413E-ABAA-FB3E932253E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일반 · 전공 · 취업 · 창업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63B6E-AF07-4557-8989-148BFEBA9B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143500" cy="4762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5CD7C-03A6-4EAF-BC91-0BC58273FDF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2026. 9. 15. (화)</a:t>
            </a:r>
          </a:p>
          <a:p>
            <a:pPr algn="l">
              <a:lnSpc>
                <a:spcPct val="125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지성1관 510</a:t>
            </a:r>
            <a:r>
              <a:rPr lang="en-US" sz="1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sz="1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0C1474-22BD-4AD6-8453-812D11900ADF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rPr>
              <a:t>OSAN UNIVERSITY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79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912652E8-AEDE-4714-9DDD-D91D684E69B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OVERVIEW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F975A0-A8BC-49A7-AE3F-D18A0706CF9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429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안내드릴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내용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0F7D1C-30D8-423F-B2D5-111B40A01241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C015B-53F4-4244-B8C0-2FB060DBCB24}"/>
              </a:ext>
            </a:extLst>
          </p:cNvPr>
          <p:cNvSpPr>
            <a:spLocks noGrp="1"/>
          </p:cNvSpPr>
          <p:nvPr/>
        </p:nvSpPr>
        <p:spPr>
          <a:xfrm>
            <a:off x="1543050" y="2266950"/>
            <a:ext cx="5143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D4CD8F-5694-4698-A3A1-C43B774602BE}"/>
              </a:ext>
            </a:extLst>
          </p:cNvPr>
          <p:cNvSpPr>
            <a:spLocks noGrp="1"/>
          </p:cNvSpPr>
          <p:nvPr/>
        </p:nvSpPr>
        <p:spPr>
          <a:xfrm>
            <a:off x="2305050" y="20574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1875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75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875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75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안내</a:t>
            </a:r>
            <a:endParaRPr sz="1875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BA2EB5-E2CE-4703-AE2C-9F2B3E876C58}"/>
              </a:ext>
            </a:extLst>
          </p:cNvPr>
          <p:cNvSpPr>
            <a:spLocks noGrp="1"/>
          </p:cNvSpPr>
          <p:nvPr/>
        </p:nvSpPr>
        <p:spPr>
          <a:xfrm>
            <a:off x="2305050" y="24765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수료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조건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·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횟수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9A54D4-F048-4419-AA81-476F03E8E492}"/>
              </a:ext>
            </a:extLst>
          </p:cNvPr>
          <p:cNvSpPr>
            <a:spLocks noGrp="1"/>
          </p:cNvSpPr>
          <p:nvPr/>
        </p:nvSpPr>
        <p:spPr>
          <a:xfrm>
            <a:off x="2305050" y="2971800"/>
            <a:ext cx="352425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8F4C18-81B6-484D-AA48-21AF02C4574E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F99F0A-F5F3-4704-855A-5999AA81F4BD}"/>
              </a:ext>
            </a:extLst>
          </p:cNvPr>
          <p:cNvSpPr>
            <a:spLocks noGrp="1"/>
          </p:cNvSpPr>
          <p:nvPr/>
        </p:nvSpPr>
        <p:spPr>
          <a:xfrm>
            <a:off x="1543050" y="3467100"/>
            <a:ext cx="5143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9C15E4-3190-40A8-893D-5D942FC335F1}"/>
              </a:ext>
            </a:extLst>
          </p:cNvPr>
          <p:cNvSpPr>
            <a:spLocks noGrp="1"/>
          </p:cNvSpPr>
          <p:nvPr/>
        </p:nvSpPr>
        <p:spPr>
          <a:xfrm>
            <a:off x="2305050" y="32575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 평가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EC3630-C1DC-4A9E-80E9-896793CDBAD5}"/>
              </a:ext>
            </a:extLst>
          </p:cNvPr>
          <p:cNvSpPr>
            <a:spLocks noGrp="1"/>
          </p:cNvSpPr>
          <p:nvPr/>
        </p:nvSpPr>
        <p:spPr>
          <a:xfrm>
            <a:off x="2305050" y="36766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전공 · 취업 · 창업 배점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A4CF6C-B91F-4D41-8A1B-E0D62875973C}"/>
              </a:ext>
            </a:extLst>
          </p:cNvPr>
          <p:cNvSpPr>
            <a:spLocks noGrp="1"/>
          </p:cNvSpPr>
          <p:nvPr/>
        </p:nvSpPr>
        <p:spPr>
          <a:xfrm>
            <a:off x="2305050" y="4171950"/>
            <a:ext cx="352425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8D7F86-3505-4E1E-B790-507F20D6F95E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9AB036-9265-4243-A51C-88F67FB32DBB}"/>
              </a:ext>
            </a:extLst>
          </p:cNvPr>
          <p:cNvSpPr>
            <a:spLocks noGrp="1"/>
          </p:cNvSpPr>
          <p:nvPr/>
        </p:nvSpPr>
        <p:spPr>
          <a:xfrm>
            <a:off x="1543050" y="4667250"/>
            <a:ext cx="5143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AB4D1F-2D5B-464B-B2D5-646B8BA81BD2}"/>
              </a:ext>
            </a:extLst>
          </p:cNvPr>
          <p:cNvSpPr>
            <a:spLocks noGrp="1"/>
          </p:cNvSpPr>
          <p:nvPr/>
        </p:nvSpPr>
        <p:spPr>
          <a:xfrm>
            <a:off x="2305050" y="44577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활동보고서 작성 방법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2FF037-961C-4244-9F96-3069707C7592}"/>
              </a:ext>
            </a:extLst>
          </p:cNvPr>
          <p:cNvSpPr>
            <a:spLocks noGrp="1"/>
          </p:cNvSpPr>
          <p:nvPr/>
        </p:nvSpPr>
        <p:spPr>
          <a:xfrm>
            <a:off x="2305050" y="48768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작성 기준 · 사진 · 올바른 예시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4768CA-0D00-414E-B06B-F56E44E66ACC}"/>
              </a:ext>
            </a:extLst>
          </p:cNvPr>
          <p:cNvSpPr>
            <a:spLocks noGrp="1"/>
          </p:cNvSpPr>
          <p:nvPr/>
        </p:nvSpPr>
        <p:spPr>
          <a:xfrm>
            <a:off x="6172200" y="20764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80C7DB-B291-4C97-8E31-56D308E541DE}"/>
              </a:ext>
            </a:extLst>
          </p:cNvPr>
          <p:cNvSpPr>
            <a:spLocks noGrp="1"/>
          </p:cNvSpPr>
          <p:nvPr/>
        </p:nvSpPr>
        <p:spPr>
          <a:xfrm>
            <a:off x="7029450" y="2266950"/>
            <a:ext cx="5143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1FA8C3-9E13-4581-9A54-B2CD6D04CBE2}"/>
              </a:ext>
            </a:extLst>
          </p:cNvPr>
          <p:cNvSpPr>
            <a:spLocks noGrp="1"/>
          </p:cNvSpPr>
          <p:nvPr/>
        </p:nvSpPr>
        <p:spPr>
          <a:xfrm>
            <a:off x="7791450" y="20574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활동보고서 제출 방법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0DBBBA-ADA2-4BFC-9EAA-D7A083F82D89}"/>
              </a:ext>
            </a:extLst>
          </p:cNvPr>
          <p:cNvSpPr>
            <a:spLocks noGrp="1"/>
          </p:cNvSpPr>
          <p:nvPr/>
        </p:nvSpPr>
        <p:spPr>
          <a:xfrm>
            <a:off x="7791450" y="24765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제출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방법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·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매월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기한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FED3EB-FECA-45D6-8072-B8839ACD3192}"/>
              </a:ext>
            </a:extLst>
          </p:cNvPr>
          <p:cNvSpPr>
            <a:spLocks noGrp="1"/>
          </p:cNvSpPr>
          <p:nvPr/>
        </p:nvSpPr>
        <p:spPr>
          <a:xfrm>
            <a:off x="7791450" y="2971800"/>
            <a:ext cx="352425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70462A-E5FC-4C46-BE75-42063FA9694C}"/>
              </a:ext>
            </a:extLst>
          </p:cNvPr>
          <p:cNvSpPr>
            <a:spLocks noGrp="1"/>
          </p:cNvSpPr>
          <p:nvPr/>
        </p:nvSpPr>
        <p:spPr>
          <a:xfrm>
            <a:off x="6172200" y="327660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8134E3C-C6C7-4990-8458-0A10404B2D7E}"/>
              </a:ext>
            </a:extLst>
          </p:cNvPr>
          <p:cNvSpPr>
            <a:spLocks noGrp="1"/>
          </p:cNvSpPr>
          <p:nvPr/>
        </p:nvSpPr>
        <p:spPr>
          <a:xfrm>
            <a:off x="7029450" y="3467100"/>
            <a:ext cx="514350" cy="28575"/>
          </a:xfrm>
          <a:prstGeom prst="rect">
            <a:avLst/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167287-B706-487F-A5D5-8613AE7075D3}"/>
              </a:ext>
            </a:extLst>
          </p:cNvPr>
          <p:cNvSpPr>
            <a:spLocks noGrp="1"/>
          </p:cNvSpPr>
          <p:nvPr/>
        </p:nvSpPr>
        <p:spPr>
          <a:xfrm>
            <a:off x="7791450" y="32575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지원금 사용 방법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C31FD7-CB9D-4150-A54D-59107FF57DB3}"/>
              </a:ext>
            </a:extLst>
          </p:cNvPr>
          <p:cNvSpPr>
            <a:spLocks noGrp="1"/>
          </p:cNvSpPr>
          <p:nvPr/>
        </p:nvSpPr>
        <p:spPr>
          <a:xfrm>
            <a:off x="7791450" y="36766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카드 사용 · 항목별 한도 · 증빙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12BDC7-F25B-43A8-AB8F-CE1DF5D69596}"/>
              </a:ext>
            </a:extLst>
          </p:cNvPr>
          <p:cNvSpPr>
            <a:spLocks noGrp="1"/>
          </p:cNvSpPr>
          <p:nvPr/>
        </p:nvSpPr>
        <p:spPr>
          <a:xfrm>
            <a:off x="7791450" y="4171950"/>
            <a:ext cx="352425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145C9C9-6C6C-4E63-897F-251BF00236D5}"/>
              </a:ext>
            </a:extLst>
          </p:cNvPr>
          <p:cNvSpPr>
            <a:spLocks noGrp="1"/>
          </p:cNvSpPr>
          <p:nvPr/>
        </p:nvSpPr>
        <p:spPr>
          <a:xfrm>
            <a:off x="6172200" y="44767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A1E0FC8-233A-4EEF-B954-58027C2A65D2}"/>
              </a:ext>
            </a:extLst>
          </p:cNvPr>
          <p:cNvSpPr>
            <a:spLocks noGrp="1"/>
          </p:cNvSpPr>
          <p:nvPr/>
        </p:nvSpPr>
        <p:spPr>
          <a:xfrm>
            <a:off x="7029450" y="4667250"/>
            <a:ext cx="5143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24A0976-17A8-4E21-81C3-3002AFE8AD1F}"/>
              </a:ext>
            </a:extLst>
          </p:cNvPr>
          <p:cNvSpPr>
            <a:spLocks noGrp="1"/>
          </p:cNvSpPr>
          <p:nvPr/>
        </p:nvSpPr>
        <p:spPr>
          <a:xfrm>
            <a:off x="7791450" y="44577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Q&amp;A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FF69B0-9CB8-4951-A115-83B7ECB2E3F6}"/>
              </a:ext>
            </a:extLst>
          </p:cNvPr>
          <p:cNvSpPr>
            <a:spLocks noGrp="1"/>
          </p:cNvSpPr>
          <p:nvPr/>
        </p:nvSpPr>
        <p:spPr>
          <a:xfrm>
            <a:off x="7791450" y="48768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질문과 최종 확인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6573200-2FC1-4D3F-B689-20B4B39D1207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0007B24-9563-4215-901D-46F98779BA18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70F79D3-DB53-4E54-A25A-BEB15081F6F9}"/>
              </a:ext>
            </a:extLst>
          </p:cNvPr>
          <p:cNvSpPr>
            <a:spLocks noGrp="1"/>
          </p:cNvSpPr>
          <p:nvPr/>
        </p:nvSpPr>
        <p:spPr>
          <a:xfrm>
            <a:off x="10839450" y="61150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66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688E186-96A9-448B-8811-384C0B835C1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2381250"/>
          </a:xfrm>
          <a:prstGeom prst="ellipse">
            <a:avLst/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8" name="직사각형 17"/>
          <p:cNvSpPr/>
          <p:nvPr/>
        </p:nvSpPr>
        <p:spPr>
          <a:xfrm>
            <a:off x="0" y="1"/>
            <a:ext cx="121920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5DD8B6-4BA0-481B-B4B4-7A4FE13FD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2095DB-F008-4D4E-AB46-7C8FF1E7D79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1905000" cy="190500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D5C2C4-A744-4FE8-82A7-950E0BCD794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SECTION 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263E0C-18CA-4EC1-83BF-C16F4981FEA3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5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활동 안내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808C3-60FB-413E-ABAA-FB3E932253E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수료 조건 · 활동 횟수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63B6E-AF07-4557-8989-148BFEBA9B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143500" cy="4762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5CD7C-03A6-4EAF-BC91-0BC58273FDF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2026–2학기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간담회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0C1474-22BD-4AD6-8453-812D11900ADF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8EA5B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OSAN UNIVERSITY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0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FC16CC-4C01-43D2-9434-F1FC6BD17D7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01 · </a:t>
            </a:r>
            <a:r>
              <a:rPr lang="ko-KR" altLang="en-US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동아리 </a:t>
            </a:r>
            <a:r>
              <a:rPr sz="1200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200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안내</a:t>
            </a:r>
            <a:endParaRPr sz="120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95EC3C-6907-4B40-92B0-207DED8BB9E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 수료 기준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57AE84-83E9-4CAD-AD3D-9F7298EAF85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B2F5B3-57E8-4C9B-8C8B-1120743A81BF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7E2FE6-68D3-46D6-9536-B068FCA88E42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F96DDD-8979-4AF1-B588-80FC751F7308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수료 조건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7C2BF-0DB9-44A4-AE74-E21189F0F356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8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28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4회 </a:t>
            </a:r>
            <a:r>
              <a:rPr sz="28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이상</a:t>
            </a:r>
            <a:endParaRPr sz="285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B6877E-7B7A-4FA0-A51A-022A49C81DE0}"/>
              </a:ext>
            </a:extLst>
          </p:cNvPr>
          <p:cNvSpPr>
            <a:spLocks noGrp="1"/>
          </p:cNvSpPr>
          <p:nvPr/>
        </p:nvSpPr>
        <p:spPr>
          <a:xfrm>
            <a:off x="5105400" y="21336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8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개인</a:t>
            </a:r>
            <a:r>
              <a:rPr sz="28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3회 </a:t>
            </a:r>
            <a:r>
              <a:rPr sz="28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이상</a:t>
            </a:r>
            <a:endParaRPr sz="285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2EA704-1754-463A-ACDC-C0D4D5917ABA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7772400" cy="285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AD2F2C-51E6-43CD-AE3A-F2B33DE0F3FE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47750" cy="36195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충족</a:t>
            </a:r>
            <a:endParaRPr sz="135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743336-9A7F-4D1B-A482-B32A85C0268A}"/>
              </a:ext>
            </a:extLst>
          </p:cNvPr>
          <p:cNvSpPr>
            <a:spLocks noGrp="1"/>
          </p:cNvSpPr>
          <p:nvPr/>
        </p:nvSpPr>
        <p:spPr>
          <a:xfrm>
            <a:off x="1981200" y="31813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수료 인정 및 오드림 190포인트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FA2EF0-51C2-4312-A55C-6675B670BBA0}"/>
              </a:ext>
            </a:extLst>
          </p:cNvPr>
          <p:cNvSpPr>
            <a:spLocks noGrp="1"/>
          </p:cNvSpPr>
          <p:nvPr/>
        </p:nvSpPr>
        <p:spPr>
          <a:xfrm>
            <a:off x="8972550" y="1657350"/>
            <a:ext cx="2533650" cy="2209800"/>
          </a:xfrm>
          <a:prstGeom prst="roundRect">
            <a:avLst>
              <a:gd name="adj" fmla="val 6897"/>
            </a:avLst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B61573-D037-4C2E-A308-9FB1B4A7F4D3}"/>
              </a:ext>
            </a:extLst>
          </p:cNvPr>
          <p:cNvSpPr>
            <a:spLocks noGrp="1"/>
          </p:cNvSpPr>
          <p:nvPr/>
        </p:nvSpPr>
        <p:spPr>
          <a:xfrm>
            <a:off x="9239250" y="19240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평가 결과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3F6080-2A0B-4C3B-BC4A-20042490115F}"/>
              </a:ext>
            </a:extLst>
          </p:cNvPr>
          <p:cNvSpPr>
            <a:spLocks noGrp="1"/>
          </p:cNvSpPr>
          <p:nvPr/>
        </p:nvSpPr>
        <p:spPr>
          <a:xfrm>
            <a:off x="9239250" y="23050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99"/>
          </a:bodyPr>
          <a:lstStyle/>
          <a:p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3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 </a:t>
            </a:r>
            <a:r>
              <a:rPr lang="en-US" sz="33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~</a:t>
            </a:r>
            <a:r>
              <a:rPr sz="33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09E7F1-5D4D-45D6-A84E-B6E468F6D9C6}"/>
              </a:ext>
            </a:extLst>
          </p:cNvPr>
          <p:cNvSpPr>
            <a:spLocks noGrp="1"/>
          </p:cNvSpPr>
          <p:nvPr/>
        </p:nvSpPr>
        <p:spPr>
          <a:xfrm>
            <a:off x="9239250" y="300990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D9E5F2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 b="1">
                <a:solidFill>
                  <a:srgbClr val="D9E5F2"/>
                </a:solidFill>
                <a:latin typeface="Pretendard SemiBold"/>
                <a:ea typeface="Pretendard SemiBold"/>
                <a:cs typeface="Pretendard SemiBold"/>
              </a:rPr>
              <a:t>학기별 등급에 따라</a:t>
            </a:r>
          </a:p>
          <a:p>
            <a:pPr algn="l">
              <a:lnSpc>
                <a:spcPct val="122000"/>
              </a:lnSpc>
              <a:buNone/>
              <a:defRPr sz="1500" b="1">
                <a:solidFill>
                  <a:srgbClr val="D9E5F2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 b="1">
                <a:solidFill>
                  <a:srgbClr val="D9E5F2"/>
                </a:solidFill>
                <a:latin typeface="Pretendard SemiBold"/>
                <a:ea typeface="Pretendard SemiBold"/>
                <a:cs typeface="Pretendard SemiBold"/>
              </a:rPr>
              <a:t>지원금 차등 지급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A2AF59-EFE0-46A1-A9E1-18AE8C95EFDA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3162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매 </a:t>
            </a:r>
            <a:r>
              <a:rPr sz="16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학기</a:t>
            </a:r>
            <a:r>
              <a:rPr sz="16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담당자</a:t>
            </a:r>
            <a:r>
              <a:rPr sz="16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모니터링</a:t>
            </a:r>
            <a:r>
              <a:rPr sz="16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실시</a:t>
            </a:r>
            <a:endParaRPr sz="165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14A53-4587-477F-9EE4-72E8A905D6E3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내용과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상태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확인</a:t>
            </a:r>
            <a:r>
              <a:rPr 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의견 수렴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86BEA-2C7A-42C3-8F0E-90D1DDBD473D}"/>
              </a:ext>
            </a:extLst>
          </p:cNvPr>
          <p:cNvSpPr>
            <a:spLocks noGrp="1"/>
          </p:cNvSpPr>
          <p:nvPr/>
        </p:nvSpPr>
        <p:spPr>
          <a:xfrm>
            <a:off x="4038600" y="4724400"/>
            <a:ext cx="9525" cy="8572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CBBBA7-CE65-49DB-A81D-A1761EA3A6BB}"/>
              </a:ext>
            </a:extLst>
          </p:cNvPr>
          <p:cNvSpPr>
            <a:spLocks noGrp="1"/>
          </p:cNvSpPr>
          <p:nvPr/>
        </p:nvSpPr>
        <p:spPr>
          <a:xfrm>
            <a:off x="4324350" y="4762500"/>
            <a:ext cx="3162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E등급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1DB141-8926-4380-976D-56AC5E7A17A5}"/>
              </a:ext>
            </a:extLst>
          </p:cNvPr>
          <p:cNvSpPr>
            <a:spLocks noGrp="1"/>
          </p:cNvSpPr>
          <p:nvPr/>
        </p:nvSpPr>
        <p:spPr>
          <a:xfrm>
            <a:off x="4324350" y="514350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폐지</a:t>
            </a:r>
            <a:r>
              <a:rPr 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가능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2282A1-6623-4BC6-B939-72B1C280246E}"/>
              </a:ext>
            </a:extLst>
          </p:cNvPr>
          <p:cNvSpPr>
            <a:spLocks noGrp="1"/>
          </p:cNvSpPr>
          <p:nvPr/>
        </p:nvSpPr>
        <p:spPr>
          <a:xfrm>
            <a:off x="7639050" y="4724400"/>
            <a:ext cx="9525" cy="8572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EDEE4C-5686-41B7-900C-FBE1AB821F38}"/>
              </a:ext>
            </a:extLst>
          </p:cNvPr>
          <p:cNvSpPr>
            <a:spLocks noGrp="1"/>
          </p:cNvSpPr>
          <p:nvPr/>
        </p:nvSpPr>
        <p:spPr>
          <a:xfrm>
            <a:off x="7924800" y="4762500"/>
            <a:ext cx="3162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D등급 2회 연속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33C379-B425-4F96-9AAF-83033F6AA1B7}"/>
              </a:ext>
            </a:extLst>
          </p:cNvPr>
          <p:cNvSpPr>
            <a:spLocks noGrp="1"/>
          </p:cNvSpPr>
          <p:nvPr/>
        </p:nvSpPr>
        <p:spPr>
          <a:xfrm>
            <a:off x="7924800" y="514350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폐지</a:t>
            </a:r>
            <a:r>
              <a:rPr 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가능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7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688E186-96A9-448B-8811-384C0B835C1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2381250"/>
          </a:xfrm>
          <a:prstGeom prst="ellipse">
            <a:avLst/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4" name="직사각형 13"/>
          <p:cNvSpPr/>
          <p:nvPr/>
        </p:nvSpPr>
        <p:spPr>
          <a:xfrm>
            <a:off x="0" y="1"/>
            <a:ext cx="121920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72205" y="64173"/>
            <a:ext cx="1029590" cy="26558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52578"/>
            <a:ext cx="1068151" cy="27718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5DD8B6-4BA0-481B-B4B4-7A4FE13FD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2095DB-F008-4D4E-AB46-7C8FF1E7D79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1905000" cy="190500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D5C2C4-A744-4FE8-82A7-950E0BCD794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SECTION 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263E0C-18CA-4EC1-83BF-C16F4981FEA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5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평가 기준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808C3-60FB-413E-ABAA-FB3E932253E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전공 · 취업 · 창업 배점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63B6E-AF07-4557-8989-148BFEBA9B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143500" cy="4762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5CD7C-03A6-4EAF-BC91-0BC58273FDF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2026–2학기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간담회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0C1474-22BD-4AD6-8453-812D11900ADF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8EA5B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OSAN UNIVERSITY</a:t>
            </a:r>
          </a:p>
        </p:txBody>
      </p:sp>
    </p:spTree>
    <p:extLst>
      <p:ext uri="{BB962C8B-B14F-4D97-AF65-F5344CB8AC3E}">
        <p14:creationId xmlns:p14="http://schemas.microsoft.com/office/powerpoint/2010/main" val="154592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A0B79F4A-2209-48BF-A08A-026514B87A7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02 · 평가 기준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E36D43-9C83-48ED-A0E0-181603420F3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전공·취업동아리 평가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34F6AB-0827-4F16-98CA-29BC784F727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A56473-030D-4391-8805-F54E5F6D9AF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5AD0BF-8C57-45F6-8CA4-DC21DD544D3B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F7471B-15D5-49D3-8BA0-6A9AAACF3B03}"/>
              </a:ext>
            </a:extLst>
          </p:cNvPr>
          <p:cNvSpPr>
            <a:spLocks noGrp="1"/>
          </p:cNvSpPr>
          <p:nvPr/>
        </p:nvSpPr>
        <p:spPr>
          <a:xfrm>
            <a:off x="9829800" y="876300"/>
            <a:ext cx="1676400" cy="323850"/>
          </a:xfrm>
          <a:prstGeom prst="roundRect">
            <a:avLst>
              <a:gd name="adj" fmla="val 35294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D4E97-EE8D-4234-9011-44149781AA20}"/>
              </a:ext>
            </a:extLst>
          </p:cNvPr>
          <p:cNvSpPr>
            <a:spLocks noGrp="1"/>
          </p:cNvSpPr>
          <p:nvPr/>
        </p:nvSpPr>
        <p:spPr>
          <a:xfrm>
            <a:off x="9829800" y="8763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총 100점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65C78B-41B2-4723-BD6A-65F12B93B05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4953E8-875B-42D5-9A18-CA279AEB33AD}"/>
              </a:ext>
            </a:extLst>
          </p:cNvPr>
          <p:cNvSpPr>
            <a:spLocks noGrp="1"/>
          </p:cNvSpPr>
          <p:nvPr/>
        </p:nvSpPr>
        <p:spPr>
          <a:xfrm>
            <a:off x="895350" y="1743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평가 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3881F7-CDAC-4007-B141-F3E3CBA2F1D8}"/>
              </a:ext>
            </a:extLst>
          </p:cNvPr>
          <p:cNvSpPr>
            <a:spLocks noGrp="1"/>
          </p:cNvSpPr>
          <p:nvPr/>
        </p:nvSpPr>
        <p:spPr>
          <a:xfrm>
            <a:off x="3352800" y="174307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6A58C8-8490-4043-817D-DF992DAAB897}"/>
              </a:ext>
            </a:extLst>
          </p:cNvPr>
          <p:cNvSpPr>
            <a:spLocks noGrp="1"/>
          </p:cNvSpPr>
          <p:nvPr/>
        </p:nvSpPr>
        <p:spPr>
          <a:xfrm>
            <a:off x="4781550" y="1743075"/>
            <a:ext cx="662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산정 기준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9614ED-0870-4BAB-8337-7875D80123B6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F78286-8D39-4718-84D5-298EB9C436F6}"/>
              </a:ext>
            </a:extLst>
          </p:cNvPr>
          <p:cNvSpPr>
            <a:spLocks noGrp="1"/>
          </p:cNvSpPr>
          <p:nvPr/>
        </p:nvSpPr>
        <p:spPr>
          <a:xfrm>
            <a:off x="895350" y="2257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수료율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B5879D-C318-4060-8404-7268078F6A02}"/>
              </a:ext>
            </a:extLst>
          </p:cNvPr>
          <p:cNvSpPr>
            <a:spLocks noGrp="1"/>
          </p:cNvSpPr>
          <p:nvPr/>
        </p:nvSpPr>
        <p:spPr>
          <a:xfrm>
            <a:off x="3352800" y="22574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20점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A9F4F0-3986-43C0-B112-C52C3B5D29F6}"/>
              </a:ext>
            </a:extLst>
          </p:cNvPr>
          <p:cNvSpPr>
            <a:spLocks noGrp="1"/>
          </p:cNvSpPr>
          <p:nvPr/>
        </p:nvSpPr>
        <p:spPr>
          <a:xfrm>
            <a:off x="4781550" y="22574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수료인원 ÷ 신청인원 × 100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9D90573-4AD3-40D5-8515-101B6F4F6493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466A5E-58C0-4BD0-8095-41BCA171F0D4}"/>
              </a:ext>
            </a:extLst>
          </p:cNvPr>
          <p:cNvSpPr>
            <a:spLocks noGrp="1"/>
          </p:cNvSpPr>
          <p:nvPr/>
        </p:nvSpPr>
        <p:spPr>
          <a:xfrm>
            <a:off x="895350" y="2828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 횟수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BD5E01-4FE5-4B95-80CA-46C702795B22}"/>
              </a:ext>
            </a:extLst>
          </p:cNvPr>
          <p:cNvSpPr>
            <a:spLocks noGrp="1"/>
          </p:cNvSpPr>
          <p:nvPr/>
        </p:nvSpPr>
        <p:spPr>
          <a:xfrm>
            <a:off x="3352800" y="28289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30점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34D52E-ADAF-448F-8246-50B0F5D2F77D}"/>
              </a:ext>
            </a:extLst>
          </p:cNvPr>
          <p:cNvSpPr>
            <a:spLocks noGrp="1"/>
          </p:cNvSpPr>
          <p:nvPr/>
        </p:nvSpPr>
        <p:spPr>
          <a:xfrm>
            <a:off x="4781550" y="28289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7회 이상 30점 · 6회 25점 · 5회 20점 · 4회 15점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2EE8B07-872C-463F-A07E-623E4FE1056D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30EFA5-B639-4579-ABD2-DC54E0651A83}"/>
              </a:ext>
            </a:extLst>
          </p:cNvPr>
          <p:cNvSpPr>
            <a:spLocks noGrp="1"/>
          </p:cNvSpPr>
          <p:nvPr/>
        </p:nvSpPr>
        <p:spPr>
          <a:xfrm>
            <a:off x="895350" y="3400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만족도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5E6D7A-8812-48B5-A2B7-12BB8489D598}"/>
              </a:ext>
            </a:extLst>
          </p:cNvPr>
          <p:cNvSpPr>
            <a:spLocks noGrp="1"/>
          </p:cNvSpPr>
          <p:nvPr/>
        </p:nvSpPr>
        <p:spPr>
          <a:xfrm>
            <a:off x="3352800" y="34004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10점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E2FEB8-BB6C-40E5-9895-2F2B75B77168}"/>
              </a:ext>
            </a:extLst>
          </p:cNvPr>
          <p:cNvSpPr>
            <a:spLocks noGrp="1"/>
          </p:cNvSpPr>
          <p:nvPr/>
        </p:nvSpPr>
        <p:spPr>
          <a:xfrm>
            <a:off x="4781550" y="34004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학생이력관리시스템 평균 만족도 반영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EC6946D-A08D-4AB9-B772-4F5BB7310F45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9E2B4F4-8CBB-4A58-84CA-EA5E466BAC39}"/>
              </a:ext>
            </a:extLst>
          </p:cNvPr>
          <p:cNvSpPr>
            <a:spLocks noGrp="1"/>
          </p:cNvSpPr>
          <p:nvPr/>
        </p:nvSpPr>
        <p:spPr>
          <a:xfrm>
            <a:off x="895350" y="3971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예산집행률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BFF8BF-61DF-447B-B474-CCAD5E54E2CF}"/>
              </a:ext>
            </a:extLst>
          </p:cNvPr>
          <p:cNvSpPr>
            <a:spLocks noGrp="1"/>
          </p:cNvSpPr>
          <p:nvPr/>
        </p:nvSpPr>
        <p:spPr>
          <a:xfrm>
            <a:off x="3352800" y="39719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10점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6EED59-4971-4976-877C-D6FA9CE6FF3E}"/>
              </a:ext>
            </a:extLst>
          </p:cNvPr>
          <p:cNvSpPr>
            <a:spLocks noGrp="1"/>
          </p:cNvSpPr>
          <p:nvPr/>
        </p:nvSpPr>
        <p:spPr>
          <a:xfrm>
            <a:off x="4781550" y="39719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집행금액 ÷ 예산금액 × 100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E79B0D1-3313-4A7F-A4C8-154E868F7FA0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BED20B-D2FB-4CEA-9A35-0E2223C14C6C}"/>
              </a:ext>
            </a:extLst>
          </p:cNvPr>
          <p:cNvSpPr>
            <a:spLocks noGrp="1"/>
          </p:cNvSpPr>
          <p:nvPr/>
        </p:nvSpPr>
        <p:spPr>
          <a:xfrm>
            <a:off x="895350" y="4543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부서 담당자 평가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638DFA-1F82-46B2-B52B-D790AB485138}"/>
              </a:ext>
            </a:extLst>
          </p:cNvPr>
          <p:cNvSpPr>
            <a:spLocks noGrp="1"/>
          </p:cNvSpPr>
          <p:nvPr/>
        </p:nvSpPr>
        <p:spPr>
          <a:xfrm>
            <a:off x="3352800" y="45434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20점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7170E9D-7A1D-4C1E-9B3B-083AFC198B8E}"/>
              </a:ext>
            </a:extLst>
          </p:cNvPr>
          <p:cNvSpPr>
            <a:spLocks noGrp="1"/>
          </p:cNvSpPr>
          <p:nvPr/>
        </p:nvSpPr>
        <p:spPr>
          <a:xfrm>
            <a:off x="4781550" y="45434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1차 간담회 참여 5점 · 모니터링 평가 15점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BFA839C-B3E3-4CFC-91C4-A5B48FE69B7E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1CA56E-E5E5-41D3-AC2E-5E8B23472F54}"/>
              </a:ext>
            </a:extLst>
          </p:cNvPr>
          <p:cNvSpPr>
            <a:spLocks noGrp="1"/>
          </p:cNvSpPr>
          <p:nvPr/>
        </p:nvSpPr>
        <p:spPr>
          <a:xfrm>
            <a:off x="895350" y="5114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사전·사후 역량평가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0C6A721-8646-40A1-A405-48485F45A99D}"/>
              </a:ext>
            </a:extLst>
          </p:cNvPr>
          <p:cNvSpPr>
            <a:spLocks noGrp="1"/>
          </p:cNvSpPr>
          <p:nvPr/>
        </p:nvSpPr>
        <p:spPr>
          <a:xfrm>
            <a:off x="3352800" y="51149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10점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6D67BB-0194-4AF0-B4E0-44A891EF5342}"/>
              </a:ext>
            </a:extLst>
          </p:cNvPr>
          <p:cNvSpPr>
            <a:spLocks noGrp="1"/>
          </p:cNvSpPr>
          <p:nvPr/>
        </p:nvSpPr>
        <p:spPr>
          <a:xfrm>
            <a:off x="4781550" y="51149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사후 점수 향상 10점 · 동일 또는 하락 5점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E33F73-A093-43AF-991B-3EDF2C4D985E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활동 횟수가 30점으로 가장 큰 비중입니다.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6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39C3AD-A462-476A-85F0-7AF0237AE3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02 · 평가 기준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5294F7-CE6F-4609-A3AF-E3CBF8362DF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창업동아리 평가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6F59CF-2A07-4C0B-A39F-D4609B9245E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70B933-28BB-4FA9-905F-3C66D29BAE80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2D3AD-0E02-4937-9636-347DC86F813B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8EB6BC-8471-4075-9A45-2BCCDD6BF3C1}"/>
              </a:ext>
            </a:extLst>
          </p:cNvPr>
          <p:cNvSpPr>
            <a:spLocks noGrp="1"/>
          </p:cNvSpPr>
          <p:nvPr/>
        </p:nvSpPr>
        <p:spPr>
          <a:xfrm>
            <a:off x="9829800" y="876300"/>
            <a:ext cx="1676400" cy="323850"/>
          </a:xfrm>
          <a:prstGeom prst="roundRect">
            <a:avLst>
              <a:gd name="adj" fmla="val 35294"/>
            </a:avLst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95D93F-584C-4A19-85D4-E9B4A0EE0D04}"/>
              </a:ext>
            </a:extLst>
          </p:cNvPr>
          <p:cNvSpPr>
            <a:spLocks noGrp="1"/>
          </p:cNvSpPr>
          <p:nvPr/>
        </p:nvSpPr>
        <p:spPr>
          <a:xfrm>
            <a:off x="9829800" y="8763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총 100점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D9E32C-2130-448D-9C80-D28A7B57694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37B65D-D5D0-4D0D-9933-C451AD0B8086}"/>
              </a:ext>
            </a:extLst>
          </p:cNvPr>
          <p:cNvSpPr>
            <a:spLocks noGrp="1"/>
          </p:cNvSpPr>
          <p:nvPr/>
        </p:nvSpPr>
        <p:spPr>
          <a:xfrm>
            <a:off x="895350" y="1743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평가 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9310B2-D3F0-4ADF-B21E-924096E3A64C}"/>
              </a:ext>
            </a:extLst>
          </p:cNvPr>
          <p:cNvSpPr>
            <a:spLocks noGrp="1"/>
          </p:cNvSpPr>
          <p:nvPr/>
        </p:nvSpPr>
        <p:spPr>
          <a:xfrm>
            <a:off x="3352800" y="174307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21B046-0B37-4403-95F9-F14104C4252B}"/>
              </a:ext>
            </a:extLst>
          </p:cNvPr>
          <p:cNvSpPr>
            <a:spLocks noGrp="1"/>
          </p:cNvSpPr>
          <p:nvPr/>
        </p:nvSpPr>
        <p:spPr>
          <a:xfrm>
            <a:off x="4781550" y="1743075"/>
            <a:ext cx="662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산정 기준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678E1E4-6B4C-4E6B-9C18-DCC8C37B7779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4AA607-C026-417C-A1C8-9FBB7B4F9AC6}"/>
              </a:ext>
            </a:extLst>
          </p:cNvPr>
          <p:cNvSpPr>
            <a:spLocks noGrp="1"/>
          </p:cNvSpPr>
          <p:nvPr/>
        </p:nvSpPr>
        <p:spPr>
          <a:xfrm>
            <a:off x="895350" y="2257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수료율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1BDABA-43FC-47B2-B416-2055A9066C5C}"/>
              </a:ext>
            </a:extLst>
          </p:cNvPr>
          <p:cNvSpPr>
            <a:spLocks noGrp="1"/>
          </p:cNvSpPr>
          <p:nvPr/>
        </p:nvSpPr>
        <p:spPr>
          <a:xfrm>
            <a:off x="3352800" y="22574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20점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7B8979-571A-4CF2-BF69-C05C434A7D8F}"/>
              </a:ext>
            </a:extLst>
          </p:cNvPr>
          <p:cNvSpPr>
            <a:spLocks noGrp="1"/>
          </p:cNvSpPr>
          <p:nvPr/>
        </p:nvSpPr>
        <p:spPr>
          <a:xfrm>
            <a:off x="4781550" y="22574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수료인원 ÷ 신청인원 × 100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110613C-D2AE-4A68-B058-CDEAAC3AC045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0CEE54-90DC-4CAA-8B9E-1BC1E5009B54}"/>
              </a:ext>
            </a:extLst>
          </p:cNvPr>
          <p:cNvSpPr>
            <a:spLocks noGrp="1"/>
          </p:cNvSpPr>
          <p:nvPr/>
        </p:nvSpPr>
        <p:spPr>
          <a:xfrm>
            <a:off x="895350" y="2828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만족도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11450E-B9BD-4B95-B389-253BEC6DCB8A}"/>
              </a:ext>
            </a:extLst>
          </p:cNvPr>
          <p:cNvSpPr>
            <a:spLocks noGrp="1"/>
          </p:cNvSpPr>
          <p:nvPr/>
        </p:nvSpPr>
        <p:spPr>
          <a:xfrm>
            <a:off x="3352800" y="28289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10점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86EED2-4A7C-4583-BB94-292A41537DA4}"/>
              </a:ext>
            </a:extLst>
          </p:cNvPr>
          <p:cNvSpPr>
            <a:spLocks noGrp="1"/>
          </p:cNvSpPr>
          <p:nvPr/>
        </p:nvSpPr>
        <p:spPr>
          <a:xfrm>
            <a:off x="4781550" y="28289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학생이력관리시스템 평균 만족도 반영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881A8C-C2C2-4B1C-94F7-0CB2F5E7CE3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C2FA03-3BE6-490B-BBE7-E470E5580812}"/>
              </a:ext>
            </a:extLst>
          </p:cNvPr>
          <p:cNvSpPr>
            <a:spLocks noGrp="1"/>
          </p:cNvSpPr>
          <p:nvPr/>
        </p:nvSpPr>
        <p:spPr>
          <a:xfrm>
            <a:off x="895350" y="3400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예산집행률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22999E-CF00-4208-9B99-CAFD7CAD06C9}"/>
              </a:ext>
            </a:extLst>
          </p:cNvPr>
          <p:cNvSpPr>
            <a:spLocks noGrp="1"/>
          </p:cNvSpPr>
          <p:nvPr/>
        </p:nvSpPr>
        <p:spPr>
          <a:xfrm>
            <a:off x="3352800" y="34004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10점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28D90A-E531-478F-AE0C-105F3E57CFDB}"/>
              </a:ext>
            </a:extLst>
          </p:cNvPr>
          <p:cNvSpPr>
            <a:spLocks noGrp="1"/>
          </p:cNvSpPr>
          <p:nvPr/>
        </p:nvSpPr>
        <p:spPr>
          <a:xfrm>
            <a:off x="4781550" y="34004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집행금액 ÷ 예산금액 × 100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4ABEF15-356E-43ED-B7C4-4622FB693AD8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8CD615-65EE-409F-9A87-B3E9AB29F971}"/>
              </a:ext>
            </a:extLst>
          </p:cNvPr>
          <p:cNvSpPr>
            <a:spLocks noGrp="1"/>
          </p:cNvSpPr>
          <p:nvPr/>
        </p:nvSpPr>
        <p:spPr>
          <a:xfrm>
            <a:off x="895350" y="3971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부서 담당자 평가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4B78D1-1A9D-44F6-A756-1DE05E3C8799}"/>
              </a:ext>
            </a:extLst>
          </p:cNvPr>
          <p:cNvSpPr>
            <a:spLocks noGrp="1"/>
          </p:cNvSpPr>
          <p:nvPr/>
        </p:nvSpPr>
        <p:spPr>
          <a:xfrm>
            <a:off x="3352800" y="39719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20점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1E5F56-CDA7-49C6-B208-C807CFF224C9}"/>
              </a:ext>
            </a:extLst>
          </p:cNvPr>
          <p:cNvSpPr>
            <a:spLocks noGrp="1"/>
          </p:cNvSpPr>
          <p:nvPr/>
        </p:nvSpPr>
        <p:spPr>
          <a:xfrm>
            <a:off x="4781550" y="39719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1차 간담회 참여 10점 · 모니터링 평가 10점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CB2F035-3ED2-4C2D-93AE-8909123961D5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86DEC9-BAAD-4076-AEBE-511867D4048A}"/>
              </a:ext>
            </a:extLst>
          </p:cNvPr>
          <p:cNvSpPr>
            <a:spLocks noGrp="1"/>
          </p:cNvSpPr>
          <p:nvPr/>
        </p:nvSpPr>
        <p:spPr>
          <a:xfrm>
            <a:off x="895350" y="4543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 활동 횟수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B6ACFB-91EA-43FF-87FF-F2611A1B11AB}"/>
              </a:ext>
            </a:extLst>
          </p:cNvPr>
          <p:cNvSpPr>
            <a:spLocks noGrp="1"/>
          </p:cNvSpPr>
          <p:nvPr/>
        </p:nvSpPr>
        <p:spPr>
          <a:xfrm>
            <a:off x="3352800" y="45434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10점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50C9E03-25FE-47D9-9235-62DF6E2434F6}"/>
              </a:ext>
            </a:extLst>
          </p:cNvPr>
          <p:cNvSpPr>
            <a:spLocks noGrp="1"/>
          </p:cNvSpPr>
          <p:nvPr/>
        </p:nvSpPr>
        <p:spPr>
          <a:xfrm>
            <a:off x="4781550" y="45434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7회 이상 10점 · 6회 9점 · 5회 8점 · 4회 7점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9BED5D1-A37B-452C-B829-52722491C06C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C0E7B43-83F4-439E-8223-5296ADF2E0C4}"/>
              </a:ext>
            </a:extLst>
          </p:cNvPr>
          <p:cNvSpPr>
            <a:spLocks noGrp="1"/>
          </p:cNvSpPr>
          <p:nvPr/>
        </p:nvSpPr>
        <p:spPr>
          <a:xfrm>
            <a:off x="895350" y="5114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창업활동 인정시간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BA00186-0C05-40E9-B420-0A5E58B0BD80}"/>
              </a:ext>
            </a:extLst>
          </p:cNvPr>
          <p:cNvSpPr>
            <a:spLocks noGrp="1"/>
          </p:cNvSpPr>
          <p:nvPr/>
        </p:nvSpPr>
        <p:spPr>
          <a:xfrm>
            <a:off x="3352800" y="51149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30점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9D913A-ECBD-45B7-BA84-5D60ABCD0C27}"/>
              </a:ext>
            </a:extLst>
          </p:cNvPr>
          <p:cNvSpPr>
            <a:spLocks noGrp="1"/>
          </p:cNvSpPr>
          <p:nvPr/>
        </p:nvSpPr>
        <p:spPr>
          <a:xfrm>
            <a:off x="4781550" y="5114925"/>
            <a:ext cx="655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50시간 30점 · 40시간 25점 · 30시간 20점 · 20시간 15점 · 미만 10점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50F9D9-42F8-442B-B5DD-C181F85D1136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활동 횟수 10점 + 인정시간 30점 = 창업활동 참여도 40점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2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62EADC-A5ED-4BF5-A46B-03ECE98DB3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02 · 평가 기준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B87A30-9A8C-4938-BE7B-C635D04036B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창업활동은 최대 100시간까지 인정됩니다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7E6D28-C446-46FB-9ABB-BB3FDBC1F070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3EEB8D-738B-4E00-9F71-27AE287406C6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53E54A-57EF-43CF-8510-53664D768D3E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464839-2045-4AA6-A1FA-6EFE756686DA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항목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FFA09F-1D30-40AC-8655-59B3BFF95A08}"/>
              </a:ext>
            </a:extLst>
          </p:cNvPr>
          <p:cNvSpPr>
            <a:spLocks noGrp="1"/>
          </p:cNvSpPr>
          <p:nvPr/>
        </p:nvSpPr>
        <p:spPr>
          <a:xfrm>
            <a:off x="3009900" y="1657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기준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1398CE-F7E1-4961-868F-CF016EFF23D4}"/>
              </a:ext>
            </a:extLst>
          </p:cNvPr>
          <p:cNvSpPr>
            <a:spLocks noGrp="1"/>
          </p:cNvSpPr>
          <p:nvPr/>
        </p:nvSpPr>
        <p:spPr>
          <a:xfrm>
            <a:off x="4667250" y="1657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인정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DA4F96-3813-46A7-9017-BB989459C6BD}"/>
              </a:ext>
            </a:extLst>
          </p:cNvPr>
          <p:cNvSpPr>
            <a:spLocks noGrp="1"/>
          </p:cNvSpPr>
          <p:nvPr/>
        </p:nvSpPr>
        <p:spPr>
          <a:xfrm>
            <a:off x="6419850" y="16573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예시·범위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9FF42BE-A4DD-470A-84C0-46FD5C10C15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D1D7F5-F3CA-44D1-9842-12CF1A9AA538}"/>
              </a:ext>
            </a:extLst>
          </p:cNvPr>
          <p:cNvSpPr>
            <a:spLocks noGrp="1"/>
          </p:cNvSpPr>
          <p:nvPr/>
        </p:nvSpPr>
        <p:spPr>
          <a:xfrm>
            <a:off x="800100" y="20764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기초 비교과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DEA4D2-D69A-4516-81A1-5D5A71C9CAB3}"/>
              </a:ext>
            </a:extLst>
          </p:cNvPr>
          <p:cNvSpPr>
            <a:spLocks noGrp="1"/>
          </p:cNvSpPr>
          <p:nvPr/>
        </p:nvSpPr>
        <p:spPr>
          <a:xfrm>
            <a:off x="3009900" y="20764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1회 5시간 · 최대 2회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7AB541-CACA-43F8-905C-3F7315FF6355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최대 10시간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037D95-775E-4125-999B-C3346F40A843}"/>
              </a:ext>
            </a:extLst>
          </p:cNvPr>
          <p:cNvSpPr>
            <a:spLocks noGrp="1"/>
          </p:cNvSpPr>
          <p:nvPr/>
        </p:nvSpPr>
        <p:spPr>
          <a:xfrm>
            <a:off x="6419850" y="20764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창업진로특강 · 3D프린터 기초 · AI 창업교육 · 창업스쿨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D20C554-52D4-4C9D-B8E2-60236DA69BA4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3C86BA-7DEA-49F6-A0A1-EA1F8D1E2084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팀 기반 심화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777ABD-FA65-4D60-9B77-4C6242C033D3}"/>
              </a:ext>
            </a:extLst>
          </p:cNvPr>
          <p:cNvSpPr>
            <a:spLocks noGrp="1"/>
          </p:cNvSpPr>
          <p:nvPr/>
        </p:nvSpPr>
        <p:spPr>
          <a:xfrm>
            <a:off x="3009900" y="26670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58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1회 15시간 · 최대 2회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8E99BB-F0C9-4315-8DAA-9A35C954BB36}"/>
              </a:ext>
            </a:extLst>
          </p:cNvPr>
          <p:cNvSpPr>
            <a:spLocks noGrp="1"/>
          </p:cNvSpPr>
          <p:nvPr/>
        </p:nvSpPr>
        <p:spPr>
          <a:xfrm>
            <a:off x="4667250" y="26670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최대 30시간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DE8358-1245-4945-85A4-70D70562C774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창업캠프 · 멘토링 · 성과나눔전 · 로컬크리에이터 · STAR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45217B8-8FEA-4C79-89DA-8ADB79CEB36B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F0850B-A8E0-4F9C-B1C3-3F29CACF7601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경진대회 참여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29FD63-8AF4-4AFF-973A-D6EA98C22DAB}"/>
              </a:ext>
            </a:extLst>
          </p:cNvPr>
          <p:cNvSpPr>
            <a:spLocks noGrp="1"/>
          </p:cNvSpPr>
          <p:nvPr/>
        </p:nvSpPr>
        <p:spPr>
          <a:xfrm>
            <a:off x="3009900" y="32575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최대 1회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DBDDD0-D4E3-46A6-B0F4-07221015398E}"/>
              </a:ext>
            </a:extLst>
          </p:cNvPr>
          <p:cNvSpPr>
            <a:spLocks noGrp="1"/>
          </p:cNvSpPr>
          <p:nvPr/>
        </p:nvSpPr>
        <p:spPr>
          <a:xfrm>
            <a:off x="4667250" y="32575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20시간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745FB1-7A24-4BE1-AB36-25BAD95900C2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내·외부 창업경진대회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F0A4C8-6006-4543-B63C-EA321516A855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8E52A07-7A53-4099-84F1-FD7B1599FE3B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경진대회 수상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66096B-3986-487E-9B1F-E356A2F782E3}"/>
              </a:ext>
            </a:extLst>
          </p:cNvPr>
          <p:cNvSpPr>
            <a:spLocks noGrp="1"/>
          </p:cNvSpPr>
          <p:nvPr/>
        </p:nvSpPr>
        <p:spPr>
          <a:xfrm>
            <a:off x="3009900" y="38481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최대 1회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E0D357-42F4-426C-AC89-DB268D337E9B}"/>
              </a:ext>
            </a:extLst>
          </p:cNvPr>
          <p:cNvSpPr>
            <a:spLocks noGrp="1"/>
          </p:cNvSpPr>
          <p:nvPr/>
        </p:nvSpPr>
        <p:spPr>
          <a:xfrm>
            <a:off x="4667250" y="38481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10시간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4E266F-6629-4FF6-B075-BE0960033FD8}"/>
              </a:ext>
            </a:extLst>
          </p:cNvPr>
          <p:cNvSpPr>
            <a:spLocks noGrp="1"/>
          </p:cNvSpPr>
          <p:nvPr/>
        </p:nvSpPr>
        <p:spPr>
          <a:xfrm>
            <a:off x="6419850" y="38481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내·외부 창업경진대회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8C3C120-4AFB-4F92-8E11-D7E18CC159A9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857D592-084D-4048-8A2F-6E2950416C38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시제품 제작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7A2379-7D81-4D4B-83AF-E555D57379F3}"/>
              </a:ext>
            </a:extLst>
          </p:cNvPr>
          <p:cNvSpPr>
            <a:spLocks noGrp="1"/>
          </p:cNvSpPr>
          <p:nvPr/>
        </p:nvSpPr>
        <p:spPr>
          <a:xfrm>
            <a:off x="3009900" y="44386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최대 1회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B60C90F-38BA-442F-A671-0B0447172EFF}"/>
              </a:ext>
            </a:extLst>
          </p:cNvPr>
          <p:cNvSpPr>
            <a:spLocks noGrp="1"/>
          </p:cNvSpPr>
          <p:nvPr/>
        </p:nvSpPr>
        <p:spPr>
          <a:xfrm>
            <a:off x="4667250" y="44386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10시간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36A008-F80B-4D30-AA28-00F284B44B1A}"/>
              </a:ext>
            </a:extLst>
          </p:cNvPr>
          <p:cNvSpPr>
            <a:spLocks noGrp="1"/>
          </p:cNvSpPr>
          <p:nvPr/>
        </p:nvSpPr>
        <p:spPr>
          <a:xfrm>
            <a:off x="6419850" y="44386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창업 시제품 제작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2364972-F83D-4560-A67E-7F2624E6CD15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0FBF8"/>
          </a:solidFill>
          <a:ln w="0">
            <a:noFill/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47B5C0B-09A1-45EE-907D-920832097FD6}"/>
              </a:ext>
            </a:extLst>
          </p:cNvPr>
          <p:cNvSpPr>
            <a:spLocks noGrp="1"/>
          </p:cNvSpPr>
          <p:nvPr/>
        </p:nvSpPr>
        <p:spPr>
          <a:xfrm>
            <a:off x="800100" y="50292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사업자등록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C248AFA-D58C-426B-A2AE-877A8B9FF53F}"/>
              </a:ext>
            </a:extLst>
          </p:cNvPr>
          <p:cNvSpPr>
            <a:spLocks noGrp="1"/>
          </p:cNvSpPr>
          <p:nvPr/>
        </p:nvSpPr>
        <p:spPr>
          <a:xfrm>
            <a:off x="3009900" y="50292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최대 1회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0FFE07F-1FF6-4E84-BDAD-E7134C4C9BD2}"/>
              </a:ext>
            </a:extLst>
          </p:cNvPr>
          <p:cNvSpPr>
            <a:spLocks noGrp="1"/>
          </p:cNvSpPr>
          <p:nvPr/>
        </p:nvSpPr>
        <p:spPr>
          <a:xfrm>
            <a:off x="4667250" y="50292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20시간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A5ADAFF-C43E-41E9-9742-E5B91BFB1634}"/>
              </a:ext>
            </a:extLst>
          </p:cNvPr>
          <p:cNvSpPr>
            <a:spLocks noGrp="1"/>
          </p:cNvSpPr>
          <p:nvPr/>
        </p:nvSpPr>
        <p:spPr>
          <a:xfrm>
            <a:off x="6419850" y="50292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개인·법인(공동창업자) 사업자등록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02C03B-52FC-4839-9020-1FAF6150C0BB}"/>
              </a:ext>
            </a:extLst>
          </p:cNvPr>
          <p:cNvSpPr>
            <a:spLocks noGrp="1"/>
          </p:cNvSpPr>
          <p:nvPr/>
        </p:nvSpPr>
        <p:spPr>
          <a:xfrm>
            <a:off x="8191500" y="5734050"/>
            <a:ext cx="3314700" cy="323850"/>
          </a:xfrm>
          <a:prstGeom prst="roundRect">
            <a:avLst>
              <a:gd name="adj" fmla="val 35294"/>
            </a:avLst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8372396-DA08-4D2F-B262-933A498A45AD}"/>
              </a:ext>
            </a:extLst>
          </p:cNvPr>
          <p:cNvSpPr>
            <a:spLocks noGrp="1"/>
          </p:cNvSpPr>
          <p:nvPr/>
        </p:nvSpPr>
        <p:spPr>
          <a:xfrm>
            <a:off x="8191500" y="5734050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학기 중 인정 횟수 제한 적용</a:t>
            </a: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0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688E186-96A9-448B-8811-384C0B835C1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2381250"/>
          </a:xfrm>
          <a:prstGeom prst="ellipse">
            <a:avLst/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4" name="직사각형 13"/>
          <p:cNvSpPr/>
          <p:nvPr/>
        </p:nvSpPr>
        <p:spPr>
          <a:xfrm>
            <a:off x="0" y="1"/>
            <a:ext cx="121920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72205" y="64173"/>
            <a:ext cx="1029590" cy="26558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52578"/>
            <a:ext cx="1068151" cy="27718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5DD8B6-4BA0-481B-B4B4-7A4FE13FD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2095DB-F008-4D4E-AB46-7C8FF1E7D79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1905000" cy="190500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D5C2C4-A744-4FE8-82A7-950E0BCD794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SECTION 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263E0C-18CA-4EC1-83BF-C16F4981FEA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5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활동보고서 작성 방법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808C3-60FB-413E-ABAA-FB3E932253E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작성 기준 · 사진 · 올바른 예시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63B6E-AF07-4557-8989-148BFEBA9B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143500" cy="4762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5CD7C-03A6-4EAF-BC91-0BC58273FDF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2026–2학기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간담회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0C1474-22BD-4AD6-8453-812D11900ADF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8EA5B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OSAN UNIVERSITY</a:t>
            </a:r>
          </a:p>
        </p:txBody>
      </p:sp>
    </p:spTree>
    <p:extLst>
      <p:ext uri="{BB962C8B-B14F-4D97-AF65-F5344CB8AC3E}">
        <p14:creationId xmlns:p14="http://schemas.microsoft.com/office/powerpoint/2010/main" val="192127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736D79-D39B-415B-8140-CCE2DC41633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03 · 활동보고서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9F2FB-28BF-474D-9860-60ECA00A33B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활동보고서는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당일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00자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이상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작성하세요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D02C8E-8BCF-42DA-A777-37186BFE11B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1CFCA2-A1B0-49DD-8C97-7765DDAFED7C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74ACA4-DC49-406B-B4E9-873D29CE0A9F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10AAA8-D54A-4EA2-846E-0808DFD111E5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981E51-11DE-41D0-83FD-160EC6BA66DC}"/>
              </a:ext>
            </a:extLst>
          </p:cNvPr>
          <p:cNvSpPr>
            <a:spLocks noGrp="1"/>
          </p:cNvSpPr>
          <p:nvPr/>
        </p:nvSpPr>
        <p:spPr>
          <a:xfrm>
            <a:off x="1524000" y="1876425"/>
            <a:ext cx="6286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0682FF-0317-438E-B26C-953026E518AA}"/>
              </a:ext>
            </a:extLst>
          </p:cNvPr>
          <p:cNvSpPr>
            <a:spLocks noGrp="1"/>
          </p:cNvSpPr>
          <p:nvPr/>
        </p:nvSpPr>
        <p:spPr>
          <a:xfrm>
            <a:off x="2400300" y="1638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활동사진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11884F-7F1D-43C0-B7CB-840434593289}"/>
              </a:ext>
            </a:extLst>
          </p:cNvPr>
          <p:cNvSpPr>
            <a:spLocks noGrp="1"/>
          </p:cNvSpPr>
          <p:nvPr/>
        </p:nvSpPr>
        <p:spPr>
          <a:xfrm>
            <a:off x="4629150" y="1619250"/>
            <a:ext cx="657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단순 식사 사진 </a:t>
            </a:r>
            <a:r>
              <a:rPr lang="en-US" altLang="ko-KR"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X.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활동하는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모습과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출석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인원이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모두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보여야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합니다</a:t>
            </a:r>
            <a:r>
              <a:rPr sz="1425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7292B7-9409-43EC-A850-6ADD05921C68}"/>
              </a:ext>
            </a:extLst>
          </p:cNvPr>
          <p:cNvSpPr>
            <a:spLocks noGrp="1"/>
          </p:cNvSpPr>
          <p:nvPr/>
        </p:nvSpPr>
        <p:spPr>
          <a:xfrm>
            <a:off x="2400300" y="2381250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2C04C5-4EDD-4A90-8105-F7B1C847600B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6948D3-998A-41B7-8785-F302AC7011D5}"/>
              </a:ext>
            </a:extLst>
          </p:cNvPr>
          <p:cNvSpPr>
            <a:spLocks noGrp="1"/>
          </p:cNvSpPr>
          <p:nvPr/>
        </p:nvSpPr>
        <p:spPr>
          <a:xfrm>
            <a:off x="1524000" y="2857500"/>
            <a:ext cx="6286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8ED4CF-8665-4302-9ED9-D7272F296769}"/>
              </a:ext>
            </a:extLst>
          </p:cNvPr>
          <p:cNvSpPr>
            <a:spLocks noGrp="1"/>
          </p:cNvSpPr>
          <p:nvPr/>
        </p:nvSpPr>
        <p:spPr>
          <a:xfrm>
            <a:off x="2400300" y="261937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활동내용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037CD3-8F5D-48E8-9FBA-AA0E784CA319}"/>
              </a:ext>
            </a:extLst>
          </p:cNvPr>
          <p:cNvSpPr>
            <a:spLocks noGrp="1"/>
          </p:cNvSpPr>
          <p:nvPr/>
        </p:nvSpPr>
        <p:spPr>
          <a:xfrm>
            <a:off x="4629150" y="2600325"/>
            <a:ext cx="657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육하원칙 또는 주제·내용·결과·느낀 점을 구체적으로 작성합니다.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638F06-07AF-4B6B-B61F-F2338F310561}"/>
              </a:ext>
            </a:extLst>
          </p:cNvPr>
          <p:cNvSpPr>
            <a:spLocks noGrp="1"/>
          </p:cNvSpPr>
          <p:nvPr/>
        </p:nvSpPr>
        <p:spPr>
          <a:xfrm>
            <a:off x="2400300" y="3362325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204169-7C5F-420F-B1AA-04D1CA004D67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EBFC01-004D-43FD-9E8A-9F212D4CD201}"/>
              </a:ext>
            </a:extLst>
          </p:cNvPr>
          <p:cNvSpPr>
            <a:spLocks noGrp="1"/>
          </p:cNvSpPr>
          <p:nvPr/>
        </p:nvSpPr>
        <p:spPr>
          <a:xfrm>
            <a:off x="1524000" y="3838575"/>
            <a:ext cx="628650" cy="2857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39F8C4-0D3C-44CE-B7BD-114141925749}"/>
              </a:ext>
            </a:extLst>
          </p:cNvPr>
          <p:cNvSpPr>
            <a:spLocks noGrp="1"/>
          </p:cNvSpPr>
          <p:nvPr/>
        </p:nvSpPr>
        <p:spPr>
          <a:xfrm>
            <a:off x="2400300" y="3600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작성권한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0D89B8-4806-4F6E-BAEF-15596E101F5E}"/>
              </a:ext>
            </a:extLst>
          </p:cNvPr>
          <p:cNvSpPr>
            <a:spLocks noGrp="1"/>
          </p:cNvSpPr>
          <p:nvPr/>
        </p:nvSpPr>
        <p:spPr>
          <a:xfrm>
            <a:off x="4629150" y="3581400"/>
            <a:ext cx="657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회장·부회장·총무가 작성하며 공지 미확인에 따른 불이익은 동아리 책임입니다.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0C26057-8C1D-4874-9F21-F739FA40AC8F}"/>
              </a:ext>
            </a:extLst>
          </p:cNvPr>
          <p:cNvSpPr>
            <a:spLocks noGrp="1"/>
          </p:cNvSpPr>
          <p:nvPr/>
        </p:nvSpPr>
        <p:spPr>
          <a:xfrm>
            <a:off x="2400300" y="4343400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28B9CA-2F7E-4ECA-A82E-AC929CD06E32}"/>
              </a:ext>
            </a:extLst>
          </p:cNvPr>
          <p:cNvSpPr>
            <a:spLocks noGrp="1"/>
          </p:cNvSpPr>
          <p:nvPr/>
        </p:nvSpPr>
        <p:spPr>
          <a:xfrm>
            <a:off x="723900" y="456247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467D05-9A2E-4404-A2A8-79F86DDBCEA7}"/>
              </a:ext>
            </a:extLst>
          </p:cNvPr>
          <p:cNvSpPr>
            <a:spLocks noGrp="1"/>
          </p:cNvSpPr>
          <p:nvPr/>
        </p:nvSpPr>
        <p:spPr>
          <a:xfrm>
            <a:off x="1524000" y="4819650"/>
            <a:ext cx="628650" cy="28575"/>
          </a:xfrm>
          <a:prstGeom prst="rect">
            <a:avLst/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B533FE-F6D1-475D-A8BC-F6774E4BC3E1}"/>
              </a:ext>
            </a:extLst>
          </p:cNvPr>
          <p:cNvSpPr>
            <a:spLocks noGrp="1"/>
          </p:cNvSpPr>
          <p:nvPr/>
        </p:nvSpPr>
        <p:spPr>
          <a:xfrm>
            <a:off x="2400300" y="45815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승인요청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806147-DE3D-41D3-BA7A-2A4293FC59BA}"/>
              </a:ext>
            </a:extLst>
          </p:cNvPr>
          <p:cNvSpPr>
            <a:spLocks noGrp="1"/>
          </p:cNvSpPr>
          <p:nvPr/>
        </p:nvSpPr>
        <p:spPr>
          <a:xfrm>
            <a:off x="4629150" y="4562475"/>
            <a:ext cx="657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기준을 확인한 뒤 승인요청합니다. 기준 미달 시 승인되지 않습니다.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5044F86-EEB1-49B9-90FF-8F3F8AD83736}"/>
              </a:ext>
            </a:extLst>
          </p:cNvPr>
          <p:cNvSpPr>
            <a:spLocks noGrp="1"/>
          </p:cNvSpPr>
          <p:nvPr/>
        </p:nvSpPr>
        <p:spPr>
          <a:xfrm>
            <a:off x="38099" y="5581650"/>
            <a:ext cx="12115801" cy="495300"/>
          </a:xfrm>
          <a:prstGeom prst="roundRect">
            <a:avLst>
              <a:gd name="adj" fmla="val 23077"/>
            </a:avLst>
          </a:prstGeom>
          <a:solidFill>
            <a:srgbClr val="FFF0F2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7E672C-C96B-42FE-80E6-F11BEB26F480}"/>
              </a:ext>
            </a:extLst>
          </p:cNvPr>
          <p:cNvSpPr>
            <a:spLocks noGrp="1"/>
          </p:cNvSpPr>
          <p:nvPr/>
        </p:nvSpPr>
        <p:spPr>
          <a:xfrm>
            <a:off x="742949" y="5343525"/>
            <a:ext cx="12115801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dirty="0">
                <a:solidFill>
                  <a:srgbClr val="F45B69"/>
                </a:solidFill>
                <a:latin typeface="Batang" panose="02030600000101010101" pitchFamily="18" charset="-127"/>
                <a:ea typeface="Batang" panose="02030600000101010101" pitchFamily="18" charset="-127"/>
                <a:cs typeface="Pretendard SemiBold"/>
              </a:rPr>
              <a:t>★</a:t>
            </a:r>
            <a:r>
              <a:rPr lang="ko-KR" altLang="en-US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활동보고서 작성 시 </a:t>
            </a:r>
            <a:r>
              <a:rPr lang="ko-KR" altLang="en-US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친목도모</a:t>
            </a:r>
            <a:r>
              <a:rPr lang="en-US" altLang="ko-KR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, </a:t>
            </a:r>
            <a:r>
              <a:rPr lang="ko-KR" altLang="en-US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회식</a:t>
            </a:r>
            <a:r>
              <a:rPr lang="en-US" altLang="ko-KR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, </a:t>
            </a:r>
            <a:r>
              <a:rPr lang="ko-KR" altLang="en-US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식사</a:t>
            </a:r>
            <a:r>
              <a:rPr lang="en-US" altLang="ko-KR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, </a:t>
            </a:r>
            <a:r>
              <a:rPr lang="ko-KR" altLang="en-US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학과 홍보</a:t>
            </a:r>
            <a:r>
              <a:rPr lang="en-US" altLang="ko-KR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, </a:t>
            </a:r>
            <a:r>
              <a:rPr lang="ko-KR" altLang="en-US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입시</a:t>
            </a:r>
            <a:r>
              <a:rPr lang="en-US" altLang="ko-KR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, </a:t>
            </a:r>
            <a:r>
              <a:rPr lang="ko-KR" altLang="en-US" sz="2400" dirty="0">
                <a:solidFill>
                  <a:srgbClr val="F45B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학과 진행 특강</a:t>
            </a:r>
            <a:r>
              <a:rPr lang="en-US" altLang="ko-KR" sz="2400" dirty="0">
                <a:solidFill>
                  <a:srgbClr val="F45B6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SemiBold"/>
              </a:rPr>
              <a:t> </a:t>
            </a:r>
            <a:r>
              <a:rPr lang="ko-KR" altLang="en-US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내용 작성 금지</a:t>
            </a:r>
            <a:r>
              <a:rPr lang="ko-KR" altLang="en-US" dirty="0">
                <a:solidFill>
                  <a:srgbClr val="F45B69"/>
                </a:solidFill>
                <a:latin typeface="Batang" panose="02030600000101010101" pitchFamily="18" charset="-127"/>
                <a:ea typeface="Batang" panose="02030600000101010101" pitchFamily="18" charset="-127"/>
                <a:cs typeface="Pretendard SemiBold"/>
              </a:rPr>
              <a:t>★</a:t>
            </a:r>
            <a:r>
              <a:rPr lang="ko-KR" altLang="en-US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sz="2000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21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D85339-6470-4927-AFA5-5D5A8FD2D04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03 · 활동보고서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AC920B-2681-423E-B71C-B9D123F91FC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올바른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보고서는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장소·인원·결과가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명확합니다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9393AD-350C-4FF9-9145-E2E408125704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9BC343-F34F-4924-932C-EBA572572AAD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026798-6603-4260-8A0E-FF56DA623D32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7DF9FC4-0CC0-422A-93A0-1956228818F7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276350" cy="323850"/>
          </a:xfrm>
          <a:prstGeom prst="roundRect">
            <a:avLst>
              <a:gd name="adj" fmla="val 35294"/>
            </a:avLst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6D5F57-F219-4625-AC6F-940EC6A60547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좋은 예시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13551FA-1FE1-40EE-9F99-CC8D32C470A8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6572250" cy="35242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0860" y="2190750"/>
            <a:ext cx="5902129" cy="318135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8BE9E50-1503-4419-BC0B-DC3A268573DE}"/>
              </a:ext>
            </a:extLst>
          </p:cNvPr>
          <p:cNvSpPr>
            <a:spLocks noGrp="1"/>
          </p:cNvSpPr>
          <p:nvPr/>
        </p:nvSpPr>
        <p:spPr>
          <a:xfrm>
            <a:off x="7677150" y="1581150"/>
            <a:ext cx="1657350" cy="323850"/>
          </a:xfrm>
          <a:prstGeom prst="roundRect">
            <a:avLst>
              <a:gd name="adj" fmla="val 35294"/>
            </a:avLst>
          </a:prstGeom>
          <a:solidFill>
            <a:srgbClr val="F45B69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9CD3F2-F8C5-4AE6-90D6-FDFEFB4CA167}"/>
              </a:ext>
            </a:extLst>
          </p:cNvPr>
          <p:cNvSpPr>
            <a:spLocks noGrp="1"/>
          </p:cNvSpPr>
          <p:nvPr/>
        </p:nvSpPr>
        <p:spPr>
          <a:xfrm>
            <a:off x="7677150" y="158115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피해야 할 예시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E0A27EC-4F5B-4E48-9946-ECDC3EED8981}"/>
              </a:ext>
            </a:extLst>
          </p:cNvPr>
          <p:cNvSpPr>
            <a:spLocks noGrp="1"/>
          </p:cNvSpPr>
          <p:nvPr/>
        </p:nvSpPr>
        <p:spPr>
          <a:xfrm>
            <a:off x="7677150" y="2019300"/>
            <a:ext cx="382905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67650" y="2254315"/>
            <a:ext cx="3448050" cy="844420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865A0EF-31F8-4C12-A009-144117B10FE1}"/>
              </a:ext>
            </a:extLst>
          </p:cNvPr>
          <p:cNvSpPr>
            <a:spLocks noGrp="1"/>
          </p:cNvSpPr>
          <p:nvPr/>
        </p:nvSpPr>
        <p:spPr>
          <a:xfrm>
            <a:off x="7677150" y="3486150"/>
            <a:ext cx="382905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67650" y="3720820"/>
            <a:ext cx="3448050" cy="84511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9218B8-66F5-4810-AA50-F835AF111EB2}"/>
              </a:ext>
            </a:extLst>
          </p:cNvPr>
          <p:cNvSpPr>
            <a:spLocks noGrp="1"/>
          </p:cNvSpPr>
          <p:nvPr/>
        </p:nvSpPr>
        <p:spPr>
          <a:xfrm>
            <a:off x="7677150" y="4972050"/>
            <a:ext cx="3829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16000"/>
              </a:lnSpc>
              <a:spcAft>
                <a:spcPts val="5"/>
              </a:spcAft>
              <a:buNone/>
              <a:defRPr sz="1350" b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회식·친목도모 등 부적절한 표현 금지</a:t>
            </a:r>
          </a:p>
          <a:p>
            <a:pPr marL="24" indent="-14" algn="l">
              <a:lnSpc>
                <a:spcPct val="116000"/>
              </a:lnSpc>
              <a:spcAft>
                <a:spcPts val="5"/>
              </a:spcAft>
              <a:buNone/>
              <a:defRPr sz="1350" b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짧고 모호한 활동 내용은 승인 불가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56AAF0-535F-41DC-A2B6-00B0D20A17F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수정·보완이 필요하면 동아리 회장이 직접 수정합니다.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F382D1-07A4-CE0C-4DA3-D277EBE20B7E}"/>
              </a:ext>
            </a:extLst>
          </p:cNvPr>
          <p:cNvSpPr/>
          <p:nvPr/>
        </p:nvSpPr>
        <p:spPr>
          <a:xfrm>
            <a:off x="1348740" y="4774883"/>
            <a:ext cx="723900" cy="15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1E9650-C089-CA0D-90CA-AF7F144207D8}"/>
              </a:ext>
            </a:extLst>
          </p:cNvPr>
          <p:cNvSpPr/>
          <p:nvPr/>
        </p:nvSpPr>
        <p:spPr>
          <a:xfrm>
            <a:off x="1348740" y="5116831"/>
            <a:ext cx="723900" cy="57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4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CC2E52-F118-441F-BDE4-C2495F29148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03 · 활동보고서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5C662-7CCC-48DB-BCA5-BCF1F6F9BEF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사진은 ‘무엇을 했는지’가 보여야 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A78538-EC4B-4F48-8700-EE7055FE3971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950CDD-163B-4DD0-92F1-C18A06C3E51D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868E26-F41D-47D1-A328-A3BB8B233772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1A0EE1-3BBF-4990-9984-36499275C72D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4450" cy="32766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rcRect t="2491" b="2491"/>
          <a:stretch>
            <a:fillRect/>
          </a:stretch>
        </p:blipFill>
        <p:spPr>
          <a:xfrm>
            <a:off x="838200" y="1752600"/>
            <a:ext cx="4819650" cy="2971800"/>
          </a:xfrm>
          <a:prstGeom prst="roundRect">
            <a:avLst>
              <a:gd name="adj" fmla="val 3846"/>
            </a:avLst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BDE8A9-823B-4DF2-9FA6-0F819D21B902}"/>
              </a:ext>
            </a:extLst>
          </p:cNvPr>
          <p:cNvSpPr>
            <a:spLocks noGrp="1"/>
          </p:cNvSpPr>
          <p:nvPr/>
        </p:nvSpPr>
        <p:spPr>
          <a:xfrm>
            <a:off x="5962650" y="1600200"/>
            <a:ext cx="5543550" cy="32766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EAB62B-4B23-43D0-8BE0-822AE90B1FB7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✓ 활동 장면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1BC1BA-5940-4254-BE53-8EB7D1172738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주제와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참여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모습이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한눈에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보이</a:t>
            </a: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는 활동하고 있는 사진 촬영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CCBCF1-7156-4E22-B2B3-C1B537E6CC11}"/>
              </a:ext>
            </a:extLst>
          </p:cNvPr>
          <p:cNvSpPr>
            <a:spLocks noGrp="1"/>
          </p:cNvSpPr>
          <p:nvPr/>
        </p:nvSpPr>
        <p:spPr>
          <a:xfrm>
            <a:off x="5962650" y="51054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✕ 출석 확인이 어려운 사진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4D7793-3EEE-43FE-A6FD-2342C89247C3}"/>
              </a:ext>
            </a:extLst>
          </p:cNvPr>
          <p:cNvSpPr>
            <a:spLocks noGrp="1"/>
          </p:cNvSpPr>
          <p:nvPr/>
        </p:nvSpPr>
        <p:spPr>
          <a:xfrm>
            <a:off x="5962650" y="5505450"/>
            <a:ext cx="554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참여자가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빠졌거나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식사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장면만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있는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사진</a:t>
            </a:r>
            <a:r>
              <a:rPr 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브이하고 있는 사진 등은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인정되지</a:t>
            </a:r>
            <a:r>
              <a:rPr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50" b="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않음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854909-0550-7256-1CA4-E247B3674F5A}"/>
              </a:ext>
            </a:extLst>
          </p:cNvPr>
          <p:cNvSpPr/>
          <p:nvPr/>
        </p:nvSpPr>
        <p:spPr>
          <a:xfrm>
            <a:off x="2720340" y="3878580"/>
            <a:ext cx="441960" cy="59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AFC4F9-F4F6-7BF8-259D-7478F4963C64}"/>
              </a:ext>
            </a:extLst>
          </p:cNvPr>
          <p:cNvSpPr/>
          <p:nvPr/>
        </p:nvSpPr>
        <p:spPr>
          <a:xfrm>
            <a:off x="1482090" y="2941320"/>
            <a:ext cx="441960" cy="59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0C9D82-B6F9-AF1F-72F7-54B44131F552}"/>
              </a:ext>
            </a:extLst>
          </p:cNvPr>
          <p:cNvSpPr/>
          <p:nvPr/>
        </p:nvSpPr>
        <p:spPr>
          <a:xfrm>
            <a:off x="3764280" y="2834640"/>
            <a:ext cx="441960" cy="59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847B81-49E4-ABD2-794B-63D114B382F8}"/>
              </a:ext>
            </a:extLst>
          </p:cNvPr>
          <p:cNvSpPr/>
          <p:nvPr/>
        </p:nvSpPr>
        <p:spPr>
          <a:xfrm>
            <a:off x="2400300" y="2529840"/>
            <a:ext cx="289560" cy="28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B882B8-0E18-7B9A-268B-BBDF3421D941}"/>
              </a:ext>
            </a:extLst>
          </p:cNvPr>
          <p:cNvSpPr/>
          <p:nvPr/>
        </p:nvSpPr>
        <p:spPr>
          <a:xfrm>
            <a:off x="4922520" y="2453640"/>
            <a:ext cx="289560" cy="327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092942-474D-D7B1-A821-B0C88933150C}"/>
              </a:ext>
            </a:extLst>
          </p:cNvPr>
          <p:cNvSpPr/>
          <p:nvPr/>
        </p:nvSpPr>
        <p:spPr>
          <a:xfrm>
            <a:off x="4549140" y="2529840"/>
            <a:ext cx="220980" cy="236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9DC1E8-25BC-605A-9075-BDCEF8A41476}"/>
              </a:ext>
            </a:extLst>
          </p:cNvPr>
          <p:cNvSpPr/>
          <p:nvPr/>
        </p:nvSpPr>
        <p:spPr>
          <a:xfrm>
            <a:off x="2775585" y="2781300"/>
            <a:ext cx="289560" cy="28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680B76A-E2BC-D1E5-039C-0A9529BC4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52600"/>
            <a:ext cx="5257800" cy="299323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7F1CA6-BCC5-F2A9-EB70-C4B3C3B7E7A2}"/>
              </a:ext>
            </a:extLst>
          </p:cNvPr>
          <p:cNvSpPr/>
          <p:nvPr/>
        </p:nvSpPr>
        <p:spPr>
          <a:xfrm>
            <a:off x="6438900" y="2941320"/>
            <a:ext cx="222885" cy="201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24EA65-6713-F411-3AD9-EB844FB223D9}"/>
              </a:ext>
            </a:extLst>
          </p:cNvPr>
          <p:cNvSpPr/>
          <p:nvPr/>
        </p:nvSpPr>
        <p:spPr>
          <a:xfrm>
            <a:off x="7045642" y="2908935"/>
            <a:ext cx="222885" cy="201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45F1F6-0FB4-60D7-6DBA-9FCD71CFDDCB}"/>
              </a:ext>
            </a:extLst>
          </p:cNvPr>
          <p:cNvSpPr/>
          <p:nvPr/>
        </p:nvSpPr>
        <p:spPr>
          <a:xfrm>
            <a:off x="7377112" y="3099435"/>
            <a:ext cx="222885" cy="201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A0D133-F935-5FAC-1AAA-073865769E16}"/>
              </a:ext>
            </a:extLst>
          </p:cNvPr>
          <p:cNvSpPr/>
          <p:nvPr/>
        </p:nvSpPr>
        <p:spPr>
          <a:xfrm>
            <a:off x="8104346" y="2674620"/>
            <a:ext cx="222885" cy="201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E2DD9C-3AD9-245D-E85F-BE5B7FE86EA4}"/>
              </a:ext>
            </a:extLst>
          </p:cNvPr>
          <p:cNvSpPr/>
          <p:nvPr/>
        </p:nvSpPr>
        <p:spPr>
          <a:xfrm>
            <a:off x="8370094" y="2941320"/>
            <a:ext cx="222885" cy="201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8027CF-8116-4BDD-D123-62DA944B08EF}"/>
              </a:ext>
            </a:extLst>
          </p:cNvPr>
          <p:cNvSpPr/>
          <p:nvPr/>
        </p:nvSpPr>
        <p:spPr>
          <a:xfrm>
            <a:off x="8963025" y="2674620"/>
            <a:ext cx="222885" cy="2019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DBA1F3-324C-9698-9BBE-F24CC5DAB316}"/>
              </a:ext>
            </a:extLst>
          </p:cNvPr>
          <p:cNvSpPr>
            <a:spLocks noGrp="1"/>
          </p:cNvSpPr>
          <p:nvPr/>
        </p:nvSpPr>
        <p:spPr>
          <a:xfrm>
            <a:off x="7970996" y="2122170"/>
            <a:ext cx="353520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활동보고서　참여인원　</a:t>
            </a:r>
            <a:r>
              <a:rPr lang="ko-KR" altLang="en-US" sz="1600" b="0" dirty="0">
                <a:solidFill>
                  <a:srgbClr val="FF0000"/>
                </a:solidFill>
                <a:latin typeface="MS Gothic" panose="020B0609070205080204" pitchFamily="49" charset="-128"/>
                <a:ea typeface="Pretendard SemiBold"/>
                <a:cs typeface="Calibri" panose="020F0502020204030204" pitchFamily="34" charset="0"/>
              </a:rPr>
              <a:t>１２</a:t>
            </a:r>
            <a:r>
              <a:rPr lang="ko-KR" altLang="en-US" sz="16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명　실제와　다름</a:t>
            </a:r>
            <a:endParaRPr sz="1600" b="0" dirty="0">
              <a:solidFill>
                <a:srgbClr val="FF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2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688E186-96A9-448B-8811-384C0B835C1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2381250"/>
          </a:xfrm>
          <a:prstGeom prst="ellipse">
            <a:avLst/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4" name="직사각형 13"/>
          <p:cNvSpPr/>
          <p:nvPr/>
        </p:nvSpPr>
        <p:spPr>
          <a:xfrm>
            <a:off x="0" y="1"/>
            <a:ext cx="121920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72205" y="64173"/>
            <a:ext cx="1029590" cy="26558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52578"/>
            <a:ext cx="1068151" cy="27718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5DD8B6-4BA0-481B-B4B4-7A4FE13FD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2095DB-F008-4D4E-AB46-7C8FF1E7D79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1905000" cy="190500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D5C2C4-A744-4FE8-82A7-950E0BCD794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SECTION 04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263E0C-18CA-4EC1-83BF-C16F4981FEA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5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활동보고서 제출 방법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808C3-60FB-413E-ABAA-FB3E932253E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제출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</a:t>
            </a:r>
            <a:r>
              <a:rPr kumimoji="0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방법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·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매월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기한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C7D6E8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63B6E-AF07-4557-8989-148BFEBA9B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143500" cy="4762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5CD7C-03A6-4EAF-BC91-0BC58273FDF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2026–2학기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간담회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0C1474-22BD-4AD6-8453-812D11900ADF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8EA5B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OSAN UNIVERSITY</a:t>
            </a:r>
          </a:p>
        </p:txBody>
      </p:sp>
    </p:spTree>
    <p:extLst>
      <p:ext uri="{BB962C8B-B14F-4D97-AF65-F5344CB8AC3E}">
        <p14:creationId xmlns:p14="http://schemas.microsoft.com/office/powerpoint/2010/main" val="55269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B34DD-0206-46C1-8824-8EB5D1BBDE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04 · 제출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370815-42AE-4B2E-9F30-1B0A62DA7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활동보고서는 </a:t>
            </a:r>
            <a:r>
              <a:rPr lang="ko-KR" altLang="en-US" sz="36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참여학생</a:t>
            </a:r>
            <a:r>
              <a:rPr lang="en-US" altLang="ko-KR" sz="36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&amp;</a:t>
            </a:r>
            <a:r>
              <a:rPr lang="ko-KR" altLang="en-US" sz="36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지도교수 서명과 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함께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03929A-9FDC-44CA-B984-C5949016EAC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3E4988-83AB-493E-988A-A8F83418BBD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2D468D-7013-4330-B5EB-208ECA2ECE5B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8B6356-5E21-4E75-7105-76C8A2959DD3}"/>
              </a:ext>
            </a:extLst>
          </p:cNvPr>
          <p:cNvSpPr>
            <a:spLocks noGrp="1"/>
          </p:cNvSpPr>
          <p:nvPr/>
        </p:nvSpPr>
        <p:spPr>
          <a:xfrm>
            <a:off x="685799" y="1381127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26F9EA-9108-2EF2-359B-5EBE7AE6BF13}"/>
              </a:ext>
            </a:extLst>
          </p:cNvPr>
          <p:cNvSpPr>
            <a:spLocks noGrp="1"/>
          </p:cNvSpPr>
          <p:nvPr/>
        </p:nvSpPr>
        <p:spPr>
          <a:xfrm>
            <a:off x="6800848" y="1381126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1541DB-CF8E-6968-0834-4A8856AE16C1}"/>
              </a:ext>
            </a:extLst>
          </p:cNvPr>
          <p:cNvSpPr>
            <a:spLocks noGrp="1"/>
          </p:cNvSpPr>
          <p:nvPr/>
        </p:nvSpPr>
        <p:spPr>
          <a:xfrm>
            <a:off x="685800" y="5610224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✓</a:t>
            </a:r>
            <a:r>
              <a:rPr 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올바른 활동보고서</a:t>
            </a:r>
            <a:endParaRPr sz="1875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7945AE-CD8B-82FF-5067-30865246A1B9}"/>
              </a:ext>
            </a:extLst>
          </p:cNvPr>
          <p:cNvSpPr>
            <a:spLocks noGrp="1"/>
          </p:cNvSpPr>
          <p:nvPr/>
        </p:nvSpPr>
        <p:spPr>
          <a:xfrm>
            <a:off x="685800" y="6010274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참여학생 서명과 지도교수 서명을 명확히 받아서 제출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955B1E-9EC9-907B-FDAD-9283853B2A8F}"/>
              </a:ext>
            </a:extLst>
          </p:cNvPr>
          <p:cNvSpPr>
            <a:spLocks noGrp="1"/>
          </p:cNvSpPr>
          <p:nvPr/>
        </p:nvSpPr>
        <p:spPr>
          <a:xfrm>
            <a:off x="6800848" y="5610224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✕</a:t>
            </a:r>
            <a:r>
              <a:rPr 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올바르지 않은 활동보고서</a:t>
            </a:r>
            <a:endParaRPr sz="1875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82A629-253D-210C-1989-CF5DB7113073}"/>
              </a:ext>
            </a:extLst>
          </p:cNvPr>
          <p:cNvSpPr>
            <a:spLocks noGrp="1"/>
          </p:cNvSpPr>
          <p:nvPr/>
        </p:nvSpPr>
        <p:spPr>
          <a:xfrm>
            <a:off x="6657972" y="6010274"/>
            <a:ext cx="582930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참여 학생 서명이 한 명이 서명한 필체 또는 사인이 공란이거나 지도교수 서명이 공란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D55F02-69D4-23E9-DC16-54831125D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89" y="1485900"/>
            <a:ext cx="4290560" cy="40481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A213116-5DB8-7B3D-B335-8EA46BF42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092" y="1485900"/>
            <a:ext cx="4239034" cy="399097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43EEE7-A906-D152-84E3-90CD16BD7D79}"/>
              </a:ext>
            </a:extLst>
          </p:cNvPr>
          <p:cNvSpPr/>
          <p:nvPr/>
        </p:nvSpPr>
        <p:spPr>
          <a:xfrm>
            <a:off x="3524250" y="2038350"/>
            <a:ext cx="485775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E9334D-344D-95F9-B101-645AEDE70BE5}"/>
              </a:ext>
            </a:extLst>
          </p:cNvPr>
          <p:cNvSpPr/>
          <p:nvPr/>
        </p:nvSpPr>
        <p:spPr>
          <a:xfrm>
            <a:off x="2662466" y="2038350"/>
            <a:ext cx="485775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0F7C6F-8CEA-C8AE-5FE8-AC1FC9431C11}"/>
              </a:ext>
            </a:extLst>
          </p:cNvPr>
          <p:cNvSpPr/>
          <p:nvPr/>
        </p:nvSpPr>
        <p:spPr>
          <a:xfrm>
            <a:off x="2264892" y="2038350"/>
            <a:ext cx="118924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FC638D-DA31-08B6-A110-13F18F66EC5D}"/>
              </a:ext>
            </a:extLst>
          </p:cNvPr>
          <p:cNvSpPr/>
          <p:nvPr/>
        </p:nvSpPr>
        <p:spPr>
          <a:xfrm>
            <a:off x="9667875" y="2105023"/>
            <a:ext cx="504825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1C483E-7F34-A44C-9200-2ABCADEF11C3}"/>
              </a:ext>
            </a:extLst>
          </p:cNvPr>
          <p:cNvSpPr/>
          <p:nvPr/>
        </p:nvSpPr>
        <p:spPr>
          <a:xfrm>
            <a:off x="8801098" y="2105023"/>
            <a:ext cx="485775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3C862A-03E9-AD85-5FA1-5E3AC5F91E56}"/>
              </a:ext>
            </a:extLst>
          </p:cNvPr>
          <p:cNvSpPr/>
          <p:nvPr/>
        </p:nvSpPr>
        <p:spPr>
          <a:xfrm>
            <a:off x="8324850" y="2105023"/>
            <a:ext cx="276199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C39BF4-AA6C-B5DE-191F-8FE6ECE3EB31}"/>
              </a:ext>
            </a:extLst>
          </p:cNvPr>
          <p:cNvSpPr/>
          <p:nvPr/>
        </p:nvSpPr>
        <p:spPr>
          <a:xfrm>
            <a:off x="10522649" y="2038350"/>
            <a:ext cx="485775" cy="2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408B50-51CA-5A92-5932-256EA9942410}"/>
              </a:ext>
            </a:extLst>
          </p:cNvPr>
          <p:cNvSpPr/>
          <p:nvPr/>
        </p:nvSpPr>
        <p:spPr>
          <a:xfrm>
            <a:off x="10513124" y="2324100"/>
            <a:ext cx="485775" cy="2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95833A-5E87-1AA5-EDCE-C7315A0082FB}"/>
              </a:ext>
            </a:extLst>
          </p:cNvPr>
          <p:cNvSpPr/>
          <p:nvPr/>
        </p:nvSpPr>
        <p:spPr>
          <a:xfrm>
            <a:off x="10496525" y="2562225"/>
            <a:ext cx="485775" cy="2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93D012-CC5C-C0A5-3B9F-EDDEC8D6E28F}"/>
              </a:ext>
            </a:extLst>
          </p:cNvPr>
          <p:cNvSpPr/>
          <p:nvPr/>
        </p:nvSpPr>
        <p:spPr>
          <a:xfrm>
            <a:off x="10541701" y="3914774"/>
            <a:ext cx="485775" cy="1247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640492-8F96-CC53-7FFD-EEFBBC89693C}"/>
              </a:ext>
            </a:extLst>
          </p:cNvPr>
          <p:cNvSpPr>
            <a:spLocks noGrp="1"/>
          </p:cNvSpPr>
          <p:nvPr/>
        </p:nvSpPr>
        <p:spPr>
          <a:xfrm>
            <a:off x="8346272" y="3089670"/>
            <a:ext cx="2840587" cy="2655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서명란은 </a:t>
            </a:r>
            <a:r>
              <a:rPr lang="ko-KR" altLang="en-US" sz="160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무조건 </a:t>
            </a:r>
            <a:r>
              <a:rPr lang="ko-KR" altLang="en-US" sz="160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본인 이름으로 작성 </a:t>
            </a:r>
            <a:endParaRPr sz="1600" b="0" dirty="0">
              <a:solidFill>
                <a:srgbClr val="FF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45512E8-9562-2D06-618E-30A3E3ED8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359" y="3993945"/>
            <a:ext cx="4000500" cy="87511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0843EEE7-A906-D152-84E3-90CD16BD7D79}"/>
              </a:ext>
            </a:extLst>
          </p:cNvPr>
          <p:cNvSpPr/>
          <p:nvPr/>
        </p:nvSpPr>
        <p:spPr>
          <a:xfrm>
            <a:off x="4567464" y="2047875"/>
            <a:ext cx="185577" cy="3333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25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B34DD-0206-46C1-8824-8EB5D1BBDE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04 · 제출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370815-42AE-4B2E-9F30-1B0A62DA7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 lnSpcReduction="10000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식대비</a:t>
            </a:r>
            <a:r>
              <a:rPr lang="en-US" altLang="ko-KR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&amp;</a:t>
            </a:r>
            <a:r>
              <a:rPr lang="ko-KR" altLang="en-US"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다과비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증빙은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42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영수증 </a:t>
            </a:r>
            <a:r>
              <a:rPr lang="ko-KR" altLang="en-US" sz="4200" b="1" dirty="0" err="1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붙임철과</a:t>
            </a:r>
            <a:r>
              <a:rPr lang="ko-KR" altLang="en-US" sz="42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함께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03929A-9FDC-44CA-B984-C5949016EAC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3E4988-83AB-493E-988A-A8F83418BBD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2D468D-7013-4330-B5EB-208ECA2ECE5B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8B6356-5E21-4E75-7105-76C8A2959DD3}"/>
              </a:ext>
            </a:extLst>
          </p:cNvPr>
          <p:cNvSpPr>
            <a:spLocks noGrp="1"/>
          </p:cNvSpPr>
          <p:nvPr/>
        </p:nvSpPr>
        <p:spPr>
          <a:xfrm>
            <a:off x="685799" y="1381127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26F9EA-9108-2EF2-359B-5EBE7AE6BF13}"/>
              </a:ext>
            </a:extLst>
          </p:cNvPr>
          <p:cNvSpPr>
            <a:spLocks noGrp="1"/>
          </p:cNvSpPr>
          <p:nvPr/>
        </p:nvSpPr>
        <p:spPr>
          <a:xfrm>
            <a:off x="6800848" y="1381126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1541DB-CF8E-6968-0834-4A8856AE16C1}"/>
              </a:ext>
            </a:extLst>
          </p:cNvPr>
          <p:cNvSpPr>
            <a:spLocks noGrp="1"/>
          </p:cNvSpPr>
          <p:nvPr/>
        </p:nvSpPr>
        <p:spPr>
          <a:xfrm>
            <a:off x="685800" y="5610224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✓</a:t>
            </a:r>
            <a:r>
              <a:rPr 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올바른 영수증 </a:t>
            </a:r>
            <a:r>
              <a:rPr lang="ko-KR" altLang="en-US" sz="1875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endParaRPr sz="1875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7945AE-CD8B-82FF-5067-30865246A1B9}"/>
              </a:ext>
            </a:extLst>
          </p:cNvPr>
          <p:cNvSpPr>
            <a:spLocks noGrp="1"/>
          </p:cNvSpPr>
          <p:nvPr/>
        </p:nvSpPr>
        <p:spPr>
          <a:xfrm>
            <a:off x="685800" y="6010274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구매 물품 목록</a:t>
            </a:r>
            <a:r>
              <a:rPr lang="en-US" altLang="ko-KR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카드 번호 나오게 출력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955B1E-9EC9-907B-FDAD-9283853B2A8F}"/>
              </a:ext>
            </a:extLst>
          </p:cNvPr>
          <p:cNvSpPr>
            <a:spLocks noGrp="1"/>
          </p:cNvSpPr>
          <p:nvPr/>
        </p:nvSpPr>
        <p:spPr>
          <a:xfrm>
            <a:off x="6800848" y="5610224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✕</a:t>
            </a:r>
            <a:r>
              <a:rPr 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올바르지 않은 영수증 </a:t>
            </a:r>
            <a:r>
              <a:rPr lang="ko-KR" altLang="en-US" sz="1875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endParaRPr sz="1875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82A629-253D-210C-1989-CF5DB7113073}"/>
              </a:ext>
            </a:extLst>
          </p:cNvPr>
          <p:cNvSpPr>
            <a:spLocks noGrp="1"/>
          </p:cNvSpPr>
          <p:nvPr/>
        </p:nvSpPr>
        <p:spPr>
          <a:xfrm>
            <a:off x="6800848" y="6010274"/>
            <a:ext cx="554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영수증이 훼손되거나</a:t>
            </a:r>
            <a:r>
              <a:rPr lang="en-US" altLang="ko-KR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구매한 물품이 </a:t>
            </a:r>
            <a:r>
              <a:rPr lang="ko-KR" altLang="en-US" sz="1350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명시되어있지</a:t>
            </a: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않음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2754538-4346-0CD0-022B-13D71B6FBA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38" t="15711" r="2603" b="7497"/>
          <a:stretch/>
        </p:blipFill>
        <p:spPr>
          <a:xfrm>
            <a:off x="1368705" y="1360496"/>
            <a:ext cx="3339538" cy="425925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5D419681-351C-D123-D7FF-DACAB688B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85" t="30005" r="21745" b="10236"/>
          <a:stretch/>
        </p:blipFill>
        <p:spPr>
          <a:xfrm>
            <a:off x="7387907" y="1409103"/>
            <a:ext cx="3531232" cy="416302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B34DD-0206-46C1-8824-8EB5D1BBDE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04 · 제출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370815-42AE-4B2E-9F30-1B0A62DA7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 lnSpcReduction="10000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식대비</a:t>
            </a:r>
            <a:r>
              <a:rPr lang="en-US" altLang="ko-KR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&amp;</a:t>
            </a:r>
            <a:r>
              <a:rPr lang="ko-KR" altLang="en-US"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다과비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42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배달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증빙은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달라요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03929A-9FDC-44CA-B984-C5949016EAC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3E4988-83AB-493E-988A-A8F83418BBD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2D468D-7013-4330-B5EB-208ECA2ECE5B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8B6356-5E21-4E75-7105-76C8A2959DD3}"/>
              </a:ext>
            </a:extLst>
          </p:cNvPr>
          <p:cNvSpPr>
            <a:spLocks noGrp="1"/>
          </p:cNvSpPr>
          <p:nvPr/>
        </p:nvSpPr>
        <p:spPr>
          <a:xfrm>
            <a:off x="685799" y="1381127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26F9EA-9108-2EF2-359B-5EBE7AE6BF13}"/>
              </a:ext>
            </a:extLst>
          </p:cNvPr>
          <p:cNvSpPr>
            <a:spLocks noGrp="1"/>
          </p:cNvSpPr>
          <p:nvPr/>
        </p:nvSpPr>
        <p:spPr>
          <a:xfrm>
            <a:off x="6800848" y="1381126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1541DB-CF8E-6968-0834-4A8856AE16C1}"/>
              </a:ext>
            </a:extLst>
          </p:cNvPr>
          <p:cNvSpPr>
            <a:spLocks noGrp="1"/>
          </p:cNvSpPr>
          <p:nvPr/>
        </p:nvSpPr>
        <p:spPr>
          <a:xfrm>
            <a:off x="685800" y="5610224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✓</a:t>
            </a:r>
            <a:r>
              <a:rPr 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올바른 영수증 </a:t>
            </a:r>
            <a:r>
              <a:rPr lang="ko-KR" altLang="en-US" sz="1875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endParaRPr sz="1875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7945AE-CD8B-82FF-5067-30865246A1B9}"/>
              </a:ext>
            </a:extLst>
          </p:cNvPr>
          <p:cNvSpPr>
            <a:spLocks noGrp="1"/>
          </p:cNvSpPr>
          <p:nvPr/>
        </p:nvSpPr>
        <p:spPr>
          <a:xfrm>
            <a:off x="685800" y="6010274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카드번호와 승인일시가 나온 매출 전표 영수증과 품목 영수증 총 </a:t>
            </a:r>
            <a:r>
              <a:rPr lang="en-US" altLang="ko-KR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장</a:t>
            </a:r>
            <a:r>
              <a:rPr lang="en-US" altLang="ko-KR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!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955B1E-9EC9-907B-FDAD-9283853B2A8F}"/>
              </a:ext>
            </a:extLst>
          </p:cNvPr>
          <p:cNvSpPr>
            <a:spLocks noGrp="1"/>
          </p:cNvSpPr>
          <p:nvPr/>
        </p:nvSpPr>
        <p:spPr>
          <a:xfrm>
            <a:off x="6800848" y="5610224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✕</a:t>
            </a:r>
            <a:r>
              <a:rPr 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올바르지 않은 영수증 </a:t>
            </a:r>
            <a:r>
              <a:rPr lang="ko-KR" altLang="en-US" sz="1875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endParaRPr sz="1875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82A629-253D-210C-1989-CF5DB7113073}"/>
              </a:ext>
            </a:extLst>
          </p:cNvPr>
          <p:cNvSpPr>
            <a:spLocks noGrp="1"/>
          </p:cNvSpPr>
          <p:nvPr/>
        </p:nvSpPr>
        <p:spPr>
          <a:xfrm>
            <a:off x="6800848" y="6010274"/>
            <a:ext cx="554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매출전표 영수증 혹은 구매 영수증 둘 중 하나라도 누락되면 안 돼요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9CD387-9E86-CA6B-78DC-304726D4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31" t="34851" r="18168" b="10205"/>
          <a:stretch/>
        </p:blipFill>
        <p:spPr>
          <a:xfrm>
            <a:off x="7297288" y="1390456"/>
            <a:ext cx="3712469" cy="419595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031E2F5-5E20-9D0E-1BD1-598E5C54A582}"/>
              </a:ext>
            </a:extLst>
          </p:cNvPr>
          <p:cNvSpPr>
            <a:spLocks noGrp="1"/>
          </p:cNvSpPr>
          <p:nvPr/>
        </p:nvSpPr>
        <p:spPr>
          <a:xfrm>
            <a:off x="7538383" y="4742246"/>
            <a:ext cx="3566624" cy="4453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매출 전표 영수증만 첨부하여 </a:t>
            </a:r>
            <a:r>
              <a:rPr lang="ko-KR" altLang="en-US" sz="1600" b="0" dirty="0" err="1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미승인</a:t>
            </a:r>
            <a:r>
              <a:rPr lang="ko-KR" altLang="en-US" sz="16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 사례</a:t>
            </a:r>
            <a:endParaRPr sz="1600" b="0" dirty="0">
              <a:solidFill>
                <a:srgbClr val="FF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D3E1CA0-E8C0-564A-DFE3-9596F0BEA2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13" t="14263" r="1330" b="3678"/>
          <a:stretch/>
        </p:blipFill>
        <p:spPr>
          <a:xfrm>
            <a:off x="1178619" y="1409700"/>
            <a:ext cx="3719710" cy="422909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0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B34DD-0206-46C1-8824-8EB5D1BBDE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04 · 제출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370815-42AE-4B2E-9F30-1B0A62DA7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 lnSpcReduction="10000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재료비는 영수증 </a:t>
            </a:r>
            <a:r>
              <a:rPr lang="ko-KR" altLang="en-US"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붙임철은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기본 추가로 </a:t>
            </a:r>
            <a:r>
              <a:rPr lang="ko-KR" altLang="en-US" sz="4200" b="1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검수조서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까지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03929A-9FDC-44CA-B984-C5949016EAC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3E4988-83AB-493E-988A-A8F83418BBD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2D468D-7013-4330-B5EB-208ECA2ECE5B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8B6356-5E21-4E75-7105-76C8A2959DD3}"/>
              </a:ext>
            </a:extLst>
          </p:cNvPr>
          <p:cNvSpPr>
            <a:spLocks noGrp="1"/>
          </p:cNvSpPr>
          <p:nvPr/>
        </p:nvSpPr>
        <p:spPr>
          <a:xfrm>
            <a:off x="685799" y="1381127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26F9EA-9108-2EF2-359B-5EBE7AE6BF13}"/>
              </a:ext>
            </a:extLst>
          </p:cNvPr>
          <p:cNvSpPr>
            <a:spLocks noGrp="1"/>
          </p:cNvSpPr>
          <p:nvPr/>
        </p:nvSpPr>
        <p:spPr>
          <a:xfrm>
            <a:off x="6800848" y="1381126"/>
            <a:ext cx="4705351" cy="422909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1541DB-CF8E-6968-0834-4A8856AE16C1}"/>
              </a:ext>
            </a:extLst>
          </p:cNvPr>
          <p:cNvSpPr>
            <a:spLocks noGrp="1"/>
          </p:cNvSpPr>
          <p:nvPr/>
        </p:nvSpPr>
        <p:spPr>
          <a:xfrm>
            <a:off x="685800" y="5610224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✓</a:t>
            </a:r>
            <a:r>
              <a:rPr 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올바른 검수조서</a:t>
            </a:r>
            <a:endParaRPr sz="1875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7945AE-CD8B-82FF-5067-30865246A1B9}"/>
              </a:ext>
            </a:extLst>
          </p:cNvPr>
          <p:cNvSpPr>
            <a:spLocks noGrp="1"/>
          </p:cNvSpPr>
          <p:nvPr/>
        </p:nvSpPr>
        <p:spPr>
          <a:xfrm>
            <a:off x="685800" y="6010274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구매한 모든 물품이 나오게 작성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955B1E-9EC9-907B-FDAD-9283853B2A8F}"/>
              </a:ext>
            </a:extLst>
          </p:cNvPr>
          <p:cNvSpPr>
            <a:spLocks noGrp="1"/>
          </p:cNvSpPr>
          <p:nvPr/>
        </p:nvSpPr>
        <p:spPr>
          <a:xfrm>
            <a:off x="6800848" y="5610224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✕</a:t>
            </a:r>
            <a:r>
              <a:rPr 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올바르지 않은 검수조서</a:t>
            </a:r>
            <a:endParaRPr sz="1875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82A629-253D-210C-1989-CF5DB7113073}"/>
              </a:ext>
            </a:extLst>
          </p:cNvPr>
          <p:cNvSpPr>
            <a:spLocks noGrp="1"/>
          </p:cNvSpPr>
          <p:nvPr/>
        </p:nvSpPr>
        <p:spPr>
          <a:xfrm>
            <a:off x="6800848" y="6010274"/>
            <a:ext cx="554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구매한 물품 개수와 맞지 않거나</a:t>
            </a:r>
            <a:r>
              <a:rPr lang="en-US" altLang="ko-KR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35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물품 누락</a:t>
            </a:r>
            <a:endParaRPr sz="135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67A9287-BA38-220C-3710-1E01209E8E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04" t="21185" r="6204"/>
          <a:stretch/>
        </p:blipFill>
        <p:spPr>
          <a:xfrm>
            <a:off x="886045" y="1409700"/>
            <a:ext cx="4212932" cy="42584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8D6E29-3DA4-20A2-7659-33982A3E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23" t="20990" r="7297"/>
          <a:stretch/>
        </p:blipFill>
        <p:spPr>
          <a:xfrm>
            <a:off x="7191374" y="1396422"/>
            <a:ext cx="4000499" cy="426142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BA3A300-1EB7-EB54-5B08-E7895418DDAA}"/>
              </a:ext>
            </a:extLst>
          </p:cNvPr>
          <p:cNvSpPr/>
          <p:nvPr/>
        </p:nvSpPr>
        <p:spPr>
          <a:xfrm>
            <a:off x="8801100" y="3067050"/>
            <a:ext cx="12858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75257B-8180-22E1-48E5-D6C423D3BFAB}"/>
              </a:ext>
            </a:extLst>
          </p:cNvPr>
          <p:cNvSpPr/>
          <p:nvPr/>
        </p:nvSpPr>
        <p:spPr>
          <a:xfrm>
            <a:off x="8315103" y="3131818"/>
            <a:ext cx="2057622" cy="19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CA7136-BAF7-C7FB-6F15-9FB537BB262E}"/>
              </a:ext>
            </a:extLst>
          </p:cNvPr>
          <p:cNvSpPr/>
          <p:nvPr/>
        </p:nvSpPr>
        <p:spPr>
          <a:xfrm>
            <a:off x="8801098" y="2409868"/>
            <a:ext cx="1676402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E47B93-6252-A359-65D5-5B78ECF9C1B3}"/>
              </a:ext>
            </a:extLst>
          </p:cNvPr>
          <p:cNvSpPr/>
          <p:nvPr/>
        </p:nvSpPr>
        <p:spPr>
          <a:xfrm>
            <a:off x="8715375" y="2771776"/>
            <a:ext cx="1371600" cy="95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665157-5C25-CE9A-0134-8F214F26AD57}"/>
              </a:ext>
            </a:extLst>
          </p:cNvPr>
          <p:cNvSpPr/>
          <p:nvPr/>
        </p:nvSpPr>
        <p:spPr>
          <a:xfrm flipV="1">
            <a:off x="8457756" y="2943227"/>
            <a:ext cx="1914969" cy="173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13620F-046F-2B81-4371-7FD6B6119A2F}"/>
              </a:ext>
            </a:extLst>
          </p:cNvPr>
          <p:cNvSpPr>
            <a:spLocks noGrp="1"/>
          </p:cNvSpPr>
          <p:nvPr/>
        </p:nvSpPr>
        <p:spPr>
          <a:xfrm>
            <a:off x="7861002" y="2943226"/>
            <a:ext cx="2921296" cy="571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검수조서는 받은 물품 그대로 촬영해 첨부</a:t>
            </a: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구매한 물품 개수</a:t>
            </a:r>
            <a:r>
              <a:rPr lang="en-US" altLang="ko-KR" sz="14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400" b="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구성이 모두 나와야 함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35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BAA948-FB10-4B1D-B0D9-6FF6806DA7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4 </a:t>
            </a:r>
            <a:r>
              <a:rPr lang="en-US" altLang="ko-KR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ko-KR" altLang="en-US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제출</a:t>
            </a:r>
            <a:endParaRPr sz="120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9A5774-EBF1-42AE-BAC9-2F273B7BA8F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D1F24A-DAA6-491F-ACF1-7B65B815C67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72DFE8-8642-42AB-B456-8F99994451E9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0A91F0-62C6-42BB-90F3-C934A9301DC9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9C46351-D5F5-40C9-A535-D31BD11615A8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352800" cy="371475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9A95F1-5924-4CBB-9C9D-13FDE62D9A39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352800" cy="609600"/>
          </a:xfrm>
          <a:prstGeom prst="roundRect">
            <a:avLst>
              <a:gd name="adj" fmla="val 18750"/>
            </a:avLst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BAC5DC-B251-4C1F-86D3-0D18A75636AA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289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8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지원금 사용 없는 경우</a:t>
            </a:r>
            <a:endParaRPr sz="1875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E6E7E7-58A7-440D-8C7B-F08D709C806D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28575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활동보고서만 제출</a:t>
            </a:r>
            <a:endParaRPr sz="28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421B5EE-063C-46F1-9D60-C458B4C35125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3352800" cy="371475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DA85C3-ABD0-43BC-A726-D50F4E0ACB80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3352800" cy="609600"/>
          </a:xfrm>
          <a:prstGeom prst="roundRect">
            <a:avLst>
              <a:gd name="adj" fmla="val 18750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3BDD7E-83D8-402A-9E38-1C8941842F45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289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875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식대비</a:t>
            </a:r>
            <a:r>
              <a:rPr lang="ko-KR" altLang="en-US" sz="18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또는 </a:t>
            </a:r>
            <a:r>
              <a:rPr lang="ko-KR" altLang="en-US" sz="1875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다과비</a:t>
            </a:r>
            <a:r>
              <a:rPr lang="ko-KR" altLang="en-US" sz="18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사용한 경우</a:t>
            </a:r>
            <a:endParaRPr sz="1875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D755B6-C895-4291-B823-FBB25AA006F6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28575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활동보고서</a:t>
            </a:r>
            <a:br>
              <a:rPr lang="en-US" altLang="ko-KR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en-US" altLang="ko-KR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  <a:br>
              <a:rPr lang="en-US" altLang="ko-KR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영수증 </a:t>
            </a:r>
            <a:r>
              <a:rPr lang="ko-KR" altLang="en-US" sz="28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제출</a:t>
            </a:r>
            <a:endParaRPr sz="28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4397D7-4FF8-4EC0-A355-EF0E469C7769}"/>
              </a:ext>
            </a:extLst>
          </p:cNvPr>
          <p:cNvSpPr>
            <a:spLocks noGrp="1"/>
          </p:cNvSpPr>
          <p:nvPr/>
        </p:nvSpPr>
        <p:spPr>
          <a:xfrm>
            <a:off x="7886700" y="1657350"/>
            <a:ext cx="3352800" cy="371475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DF9C2A-0656-4F98-B154-B626DDBAC41B}"/>
              </a:ext>
            </a:extLst>
          </p:cNvPr>
          <p:cNvSpPr>
            <a:spLocks noGrp="1"/>
          </p:cNvSpPr>
          <p:nvPr/>
        </p:nvSpPr>
        <p:spPr>
          <a:xfrm>
            <a:off x="7886700" y="1657350"/>
            <a:ext cx="3352800" cy="609600"/>
          </a:xfrm>
          <a:prstGeom prst="roundRect">
            <a:avLst>
              <a:gd name="adj" fmla="val 18750"/>
            </a:avLst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E6C615-D722-417C-9F73-E36FC44A58A0}"/>
              </a:ext>
            </a:extLst>
          </p:cNvPr>
          <p:cNvSpPr>
            <a:spLocks noGrp="1"/>
          </p:cNvSpPr>
          <p:nvPr/>
        </p:nvSpPr>
        <p:spPr>
          <a:xfrm>
            <a:off x="8115300" y="1790700"/>
            <a:ext cx="289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875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재료비 사용한 경우</a:t>
            </a:r>
            <a:endParaRPr sz="1875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2BD409-35E2-4EEB-959E-1974B6907A4C}"/>
              </a:ext>
            </a:extLst>
          </p:cNvPr>
          <p:cNvSpPr>
            <a:spLocks noGrp="1"/>
          </p:cNvSpPr>
          <p:nvPr/>
        </p:nvSpPr>
        <p:spPr>
          <a:xfrm>
            <a:off x="8115300" y="2571750"/>
            <a:ext cx="30099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활동보고서</a:t>
            </a:r>
            <a:endParaRPr lang="en-US" altLang="ko-KR" sz="28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altLang="ko-KR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</a:p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영수증 </a:t>
            </a:r>
            <a:r>
              <a:rPr lang="ko-KR" altLang="en-US" sz="28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endParaRPr lang="en-US" altLang="ko-KR" sz="28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altLang="ko-KR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</a:p>
          <a:p>
            <a:pPr marL="24" indent="-14" algn="ctr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8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검수조서 제출</a:t>
            </a:r>
            <a:endParaRPr sz="28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11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9256F4-505D-47F2-AC57-158B3389F9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04 · 제출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A84970-67C7-4933-B2BE-77449A62ECF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제출은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→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학생취업처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순서입니다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D8DF84-A28E-42CC-8E51-37D51738147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B80904-28A9-486A-BAD9-2CF4DE188397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8F7E5-54CC-47EA-AAC5-269EFE22EDE5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7684CE4-0893-4152-90A5-9144AC3D3A85}"/>
              </a:ext>
            </a:extLst>
          </p:cNvPr>
          <p:cNvSpPr>
            <a:spLocks noGrp="1"/>
          </p:cNvSpPr>
          <p:nvPr/>
        </p:nvSpPr>
        <p:spPr>
          <a:xfrm>
            <a:off x="1900237" y="1714500"/>
            <a:ext cx="552450" cy="55245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807829-C64F-439F-A70E-09D891088C04}"/>
              </a:ext>
            </a:extLst>
          </p:cNvPr>
          <p:cNvSpPr>
            <a:spLocks noGrp="1"/>
          </p:cNvSpPr>
          <p:nvPr/>
        </p:nvSpPr>
        <p:spPr>
          <a:xfrm>
            <a:off x="1900237" y="171450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2C9A57-753A-4FF0-B6C0-B6BC19CBF3F9}"/>
              </a:ext>
            </a:extLst>
          </p:cNvPr>
          <p:cNvSpPr>
            <a:spLocks noGrp="1"/>
          </p:cNvSpPr>
          <p:nvPr/>
        </p:nvSpPr>
        <p:spPr>
          <a:xfrm>
            <a:off x="1657350" y="25336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9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195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9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회장</a:t>
            </a:r>
            <a:endParaRPr sz="195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1E1EFB-FCF3-4A66-9270-DC75F09A454F}"/>
              </a:ext>
            </a:extLst>
          </p:cNvPr>
          <p:cNvSpPr>
            <a:spLocks noGrp="1"/>
          </p:cNvSpPr>
          <p:nvPr/>
        </p:nvSpPr>
        <p:spPr>
          <a:xfrm>
            <a:off x="1295399" y="3038474"/>
            <a:ext cx="4105276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000" lnSpcReduction="20000"/>
          </a:bodyPr>
          <a:lstStyle/>
          <a:p>
            <a:pPr marL="342900" indent="-342900" algn="l">
              <a:lnSpc>
                <a:spcPct val="125000"/>
              </a:lnSpc>
              <a:buAutoNum type="arabicPeriod"/>
              <a:defRPr sz="15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학생이력관리시스템 활동당일 활동보고서 작성</a:t>
            </a:r>
            <a:endParaRPr lang="en-US" altLang="ko-KR" sz="160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342900" indent="-342900" algn="l">
              <a:lnSpc>
                <a:spcPct val="125000"/>
              </a:lnSpc>
              <a:buAutoNum type="arabicPeriod"/>
              <a:defRPr sz="15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담당자의 활동보고서 승인</a:t>
            </a:r>
            <a:endParaRPr lang="en-US" altLang="ko-KR" sz="160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342900" indent="-342900" algn="l">
              <a:lnSpc>
                <a:spcPct val="125000"/>
              </a:lnSpc>
              <a:buAutoNum type="arabicPeriod"/>
              <a:defRPr sz="15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활동보고서 출력 후 참여학생</a:t>
            </a:r>
            <a:r>
              <a:rPr lang="ko-KR" altLang="en-US" sz="160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과 지도교수 서명 완료</a:t>
            </a:r>
            <a:endParaRPr lang="en-US" altLang="ko-KR" sz="160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342900" indent="-342900" algn="l">
              <a:lnSpc>
                <a:spcPct val="125000"/>
              </a:lnSpc>
              <a:buAutoNum type="arabicPeriod"/>
              <a:defRPr sz="15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활동보고서와 증빙서류 </a:t>
            </a:r>
            <a:r>
              <a:rPr lang="ko-KR" altLang="en-US" sz="160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학생취업처로 제출</a:t>
            </a:r>
            <a:endParaRPr sz="160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66B65D-DBF0-44A6-978A-A8DBF64C8F6C}"/>
              </a:ext>
            </a:extLst>
          </p:cNvPr>
          <p:cNvSpPr>
            <a:spLocks noGrp="1"/>
          </p:cNvSpPr>
          <p:nvPr/>
        </p:nvSpPr>
        <p:spPr>
          <a:xfrm>
            <a:off x="3705225" y="1714499"/>
            <a:ext cx="5143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7F966A-A071-44DD-B041-8DE37CA77820}"/>
              </a:ext>
            </a:extLst>
          </p:cNvPr>
          <p:cNvSpPr>
            <a:spLocks noGrp="1"/>
          </p:cNvSpPr>
          <p:nvPr/>
        </p:nvSpPr>
        <p:spPr>
          <a:xfrm>
            <a:off x="2452687" y="1962151"/>
            <a:ext cx="5157789" cy="571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75A4CB-0455-4886-9384-4E8143DB3695}"/>
              </a:ext>
            </a:extLst>
          </p:cNvPr>
          <p:cNvSpPr>
            <a:spLocks noGrp="1"/>
          </p:cNvSpPr>
          <p:nvPr/>
        </p:nvSpPr>
        <p:spPr>
          <a:xfrm>
            <a:off x="7210427" y="1724024"/>
            <a:ext cx="657225" cy="542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65CCA08-AD74-4759-AEBD-0AA8597BE094}"/>
              </a:ext>
            </a:extLst>
          </p:cNvPr>
          <p:cNvSpPr>
            <a:spLocks noGrp="1"/>
          </p:cNvSpPr>
          <p:nvPr/>
        </p:nvSpPr>
        <p:spPr>
          <a:xfrm>
            <a:off x="7715252" y="1743075"/>
            <a:ext cx="552450" cy="552450"/>
          </a:xfrm>
          <a:prstGeom prst="ellipse">
            <a:avLst/>
          </a:prstGeom>
          <a:solidFill>
            <a:srgbClr val="2F6B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A88129-B436-42F4-976C-D3E2A5B7A827}"/>
              </a:ext>
            </a:extLst>
          </p:cNvPr>
          <p:cNvSpPr>
            <a:spLocks noGrp="1"/>
          </p:cNvSpPr>
          <p:nvPr/>
        </p:nvSpPr>
        <p:spPr>
          <a:xfrm>
            <a:off x="7715252" y="171450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  <a:endParaRPr sz="18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0A2839-C773-4266-8FFD-1B07AC021A9A}"/>
              </a:ext>
            </a:extLst>
          </p:cNvPr>
          <p:cNvSpPr>
            <a:spLocks noGrp="1"/>
          </p:cNvSpPr>
          <p:nvPr/>
        </p:nvSpPr>
        <p:spPr>
          <a:xfrm>
            <a:off x="7515227" y="2533650"/>
            <a:ext cx="115252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95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학생취업처</a:t>
            </a:r>
            <a:endParaRPr sz="195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27DB43-B386-488D-BAC4-AB432F4E31E2}"/>
              </a:ext>
            </a:extLst>
          </p:cNvPr>
          <p:cNvSpPr>
            <a:spLocks noGrp="1"/>
          </p:cNvSpPr>
          <p:nvPr/>
        </p:nvSpPr>
        <p:spPr>
          <a:xfrm>
            <a:off x="7315202" y="2952751"/>
            <a:ext cx="3295648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sz="160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sz="160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42A1FB-851D-4B7F-A396-7D0E9622A522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1066800"/>
          </a:xfrm>
          <a:prstGeom prst="roundRect">
            <a:avLst>
              <a:gd name="adj" fmla="val 10714"/>
            </a:avLst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889C54-A0EA-4D0D-81FD-7C89BF9497B8}"/>
              </a:ext>
            </a:extLst>
          </p:cNvPr>
          <p:cNvSpPr>
            <a:spLocks noGrp="1"/>
          </p:cNvSpPr>
          <p:nvPr/>
        </p:nvSpPr>
        <p:spPr>
          <a:xfrm>
            <a:off x="990600" y="49149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850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매월</a:t>
            </a:r>
            <a:r>
              <a:rPr sz="28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5일</a:t>
            </a:r>
            <a:r>
              <a:rPr lang="ko-KR" altLang="en-US" sz="28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까지</a:t>
            </a:r>
            <a:endParaRPr sz="285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AB5685E-81FA-440F-ACAA-1B1A40BF0CE4}"/>
              </a:ext>
            </a:extLst>
          </p:cNvPr>
          <p:cNvSpPr>
            <a:spLocks noGrp="1"/>
          </p:cNvSpPr>
          <p:nvPr/>
        </p:nvSpPr>
        <p:spPr>
          <a:xfrm>
            <a:off x="3429000" y="4972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학생취업처</a:t>
            </a:r>
            <a:r>
              <a:rPr lang="ko-KR" altLang="en-US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로 제출</a:t>
            </a:r>
            <a:endParaRPr sz="18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7A9E34-33BD-482C-A740-9C8E7F3AB08F}"/>
              </a:ext>
            </a:extLst>
          </p:cNvPr>
          <p:cNvSpPr>
            <a:spLocks noGrp="1"/>
          </p:cNvSpPr>
          <p:nvPr/>
        </p:nvSpPr>
        <p:spPr>
          <a:xfrm>
            <a:off x="6819900" y="49720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575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75" b="1" dirty="0" err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활동보고서</a:t>
            </a:r>
            <a:r>
              <a:rPr sz="1575" b="1" dirty="0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75" b="1" dirty="0" err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보완·수정은</a:t>
            </a:r>
            <a:r>
              <a:rPr sz="1575" b="1" dirty="0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75" b="1" dirty="0" err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회장이</a:t>
            </a:r>
            <a:r>
              <a:rPr sz="1575" b="1" dirty="0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75" b="1" dirty="0" err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직접</a:t>
            </a:r>
            <a:r>
              <a:rPr sz="1575" b="1" dirty="0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75" b="1" dirty="0" err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rPr>
              <a:t>처리</a:t>
            </a:r>
            <a:endParaRPr sz="1575" b="1" dirty="0">
              <a:solidFill>
                <a:srgbClr val="C7D6E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65464D-707A-579F-38F8-2E3B7C849BE0}"/>
              </a:ext>
            </a:extLst>
          </p:cNvPr>
          <p:cNvSpPr>
            <a:spLocks noGrp="1"/>
          </p:cNvSpPr>
          <p:nvPr/>
        </p:nvSpPr>
        <p:spPr>
          <a:xfrm>
            <a:off x="7134224" y="3028950"/>
            <a:ext cx="4105276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25000"/>
              </a:lnSpc>
              <a:buAutoNum type="arabicPeriod"/>
              <a:defRPr sz="1500" b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매월 </a:t>
            </a:r>
            <a:r>
              <a:rPr lang="en-US" altLang="ko-KR" sz="160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lang="ko-KR" altLang="en-US" sz="1600" b="0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일까지 학생취업처로 활동보고서와 증빙서류 제출</a:t>
            </a:r>
            <a:endParaRPr sz="1600" b="0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C9BA7B-065A-6641-CE6E-B5F5BB8C53C5}"/>
              </a:ext>
            </a:extLst>
          </p:cNvPr>
          <p:cNvSpPr txBox="1"/>
          <p:nvPr/>
        </p:nvSpPr>
        <p:spPr>
          <a:xfrm>
            <a:off x="4114800" y="4133848"/>
            <a:ext cx="395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★</a:t>
            </a:r>
            <a:r>
              <a:rPr lang="ko-KR" altLang="en-US" b="1" dirty="0">
                <a:solidFill>
                  <a:srgbClr val="FF0000"/>
                </a:solidFill>
              </a:rPr>
              <a:t>활동보고서 출력 시 필수 단면 출력</a:t>
            </a: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45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688E186-96A9-448B-8811-384C0B835C1F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2381250"/>
          </a:xfrm>
          <a:prstGeom prst="ellipse">
            <a:avLst/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4" name="직사각형 13"/>
          <p:cNvSpPr/>
          <p:nvPr/>
        </p:nvSpPr>
        <p:spPr>
          <a:xfrm>
            <a:off x="0" y="1"/>
            <a:ext cx="121920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5DD8B6-4BA0-481B-B4B4-7A4FE13FD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2095DB-F008-4D4E-AB46-7C8FF1E7D794}"/>
              </a:ext>
            </a:extLst>
          </p:cNvPr>
          <p:cNvSpPr>
            <a:spLocks noGrp="1"/>
          </p:cNvSpPr>
          <p:nvPr/>
        </p:nvSpPr>
        <p:spPr>
          <a:xfrm>
            <a:off x="10287000" y="4476750"/>
            <a:ext cx="1905000" cy="1905000"/>
          </a:xfrm>
          <a:prstGeom prst="ellipse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D5C2C4-A744-4FE8-82A7-950E0BCD794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SECTION 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263E0C-18CA-4EC1-83BF-C16F4981FEA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5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지원금 사용 방법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808C3-60FB-413E-ABAA-FB3E932253E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7D6E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카드 사용 · 항목별 한도 · 증빙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63B6E-AF07-4557-8989-148BFEBA9B6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5143500" cy="47625"/>
          </a:xfrm>
          <a:prstGeom prst="rect">
            <a:avLst/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5CD7C-03A6-4EAF-BC91-0BC58273FDF0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2026–2학기</a:t>
            </a:r>
          </a:p>
          <a:p>
            <a:pPr marL="0" marR="0" lvl="0" indent="0" algn="l" defTabSz="914400" rtl="0" eaLnBrk="1" fontAlgn="auto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동아리 간담회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0C1474-22BD-4AD6-8453-812D11900ADF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8EA5B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8EA5B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OSAN UNIVERSITY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82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BAA948-FB10-4B1D-B0D9-6FF6806DA7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05 · 지원금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9A5774-EBF1-42AE-BAC9-2F273B7BA8F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지원금은 승인 → 사용 → 증빙 순서로 처리합니다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D1F24A-DAA6-491F-ACF1-7B65B815C67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72DFE8-8642-42AB-B456-8F99994451E9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0A91F0-62C6-42BB-90F3-C934A9301DC9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9C46351-D5F5-40C9-A535-D31BD11615A8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352800" cy="371475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9A95F1-5924-4CBB-9C9D-13FDE62D9A39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352800" cy="609600"/>
          </a:xfrm>
          <a:prstGeom prst="roundRect">
            <a:avLst>
              <a:gd name="adj" fmla="val 18750"/>
            </a:avLst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BAC5DC-B251-4C1F-86D3-0D18A75636AA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289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1. 사용 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E6E7E7-58A7-440D-8C7B-F08D709C806D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28575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16000"/>
              </a:lnSpc>
              <a:spcAft>
                <a:spcPts val="15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b="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동아리별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지원금액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확인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학과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조교에게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목적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알림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담당자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승인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후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카드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불출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카드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수불대장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작성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421B5EE-063C-46F1-9D60-C458B4C35125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3352800" cy="371475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DA85C3-ABD0-43BC-A726-D50F4E0ACB80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3352800" cy="609600"/>
          </a:xfrm>
          <a:prstGeom prst="roundRect">
            <a:avLst>
              <a:gd name="adj" fmla="val 18750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3BDD7E-83D8-402A-9E38-1C8941842F45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289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2. 사용 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D755B6-C895-4291-B823-FBB25AA006F6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28575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승인된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목적·금액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내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부적당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업소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외부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지역</a:t>
            </a:r>
            <a:r>
              <a:rPr lang="en-US"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오산</a:t>
            </a:r>
            <a:r>
              <a:rPr lang="en-US" altLang="ko-KR"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수원 외 모든 지역</a:t>
            </a:r>
            <a:r>
              <a:rPr lang="en-US" altLang="ko-KR"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ko-KR" altLang="en-US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비</a:t>
            </a: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 〮 </a:t>
            </a:r>
            <a:r>
              <a:rPr lang="ko-KR" altLang="en-US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근무일</a:t>
            </a:r>
            <a:r>
              <a:rPr lang="en-US" altLang="ko-KR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주말</a:t>
            </a:r>
            <a:r>
              <a:rPr lang="en-US" altLang="ko-KR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  <a:r>
              <a:rPr lang="ko-KR" altLang="en-US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공휴일</a:t>
            </a:r>
            <a:r>
              <a:rPr lang="en-US" altLang="ko-KR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)+</a:t>
            </a:r>
            <a:r>
              <a:rPr lang="ko-KR" altLang="en-US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외부활동 카드 </a:t>
            </a:r>
            <a:endParaRPr lang="en-US" altLang="ko-KR" sz="1425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altLang="ko-KR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  </a:t>
            </a:r>
            <a:r>
              <a:rPr lang="ko-KR" altLang="en-US" sz="1425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사전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승인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요청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창업동아리는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담당자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사전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문의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4397D7-4FF8-4EC0-A355-EF0E469C7769}"/>
              </a:ext>
            </a:extLst>
          </p:cNvPr>
          <p:cNvSpPr>
            <a:spLocks noGrp="1"/>
          </p:cNvSpPr>
          <p:nvPr/>
        </p:nvSpPr>
        <p:spPr>
          <a:xfrm>
            <a:off x="7886700" y="1657350"/>
            <a:ext cx="3352800" cy="371475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DF9C2A-0656-4F98-B154-B626DDBAC41B}"/>
              </a:ext>
            </a:extLst>
          </p:cNvPr>
          <p:cNvSpPr>
            <a:spLocks noGrp="1"/>
          </p:cNvSpPr>
          <p:nvPr/>
        </p:nvSpPr>
        <p:spPr>
          <a:xfrm>
            <a:off x="7886700" y="1657350"/>
            <a:ext cx="3352800" cy="609600"/>
          </a:xfrm>
          <a:prstGeom prst="roundRect">
            <a:avLst>
              <a:gd name="adj" fmla="val 18750"/>
            </a:avLst>
          </a:prstGeom>
          <a:solidFill>
            <a:srgbClr val="163458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E6C615-D722-417C-9F73-E36FC44A58A0}"/>
              </a:ext>
            </a:extLst>
          </p:cNvPr>
          <p:cNvSpPr>
            <a:spLocks noGrp="1"/>
          </p:cNvSpPr>
          <p:nvPr/>
        </p:nvSpPr>
        <p:spPr>
          <a:xfrm>
            <a:off x="8115300" y="1790700"/>
            <a:ext cx="289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사용 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2BD409-35E2-4EEB-959E-1974B6907A4C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28575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당일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보고서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작성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영수증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정리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재료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구매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시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검수조서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5"/>
              </a:spcAft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25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금액·카드번호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일치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확인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7357228-0A69-4791-A88E-2FC21E944956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0F2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C511C6-4818-4ABB-B2D0-D251CCEE7605}"/>
              </a:ext>
            </a:extLst>
          </p:cNvPr>
          <p:cNvSpPr>
            <a:spLocks noGrp="1"/>
          </p:cNvSpPr>
          <p:nvPr/>
        </p:nvSpPr>
        <p:spPr>
          <a:xfrm>
            <a:off x="914400" y="571500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재료비 등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판단이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어려운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지출은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반드시</a:t>
            </a:r>
            <a:r>
              <a:rPr lang="en-US" altLang="ko-KR"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!!!!!!!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결제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전에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동아리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담당자에게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5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문의하세요</a:t>
            </a:r>
            <a:r>
              <a:rPr sz="15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38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FEC8EE-6F38-4261-82AD-7D8F9F03FF2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05 · 지원금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4BE607-CA7C-4735-8CBA-49908D3630F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항목별 한도와 금지사항을 먼저 확인하세요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12DCF3-A8BE-451E-A37B-1D676834198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A7D88D-C164-406E-ABAF-47AFA2B50B28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99AA27-482D-46AF-8945-DE0AD13F1C55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F80555-EE3B-449F-80FB-DFEEDC1EC2FE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식대</a:t>
            </a:r>
            <a:endParaRPr sz="1600" b="1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7CB3F5-5F52-4C69-85E1-3762907AA448}"/>
              </a:ext>
            </a:extLst>
          </p:cNvPr>
          <p:cNvSpPr>
            <a:spLocks noGrp="1"/>
          </p:cNvSpPr>
          <p:nvPr/>
        </p:nvSpPr>
        <p:spPr>
          <a:xfrm>
            <a:off x="685799" y="1924050"/>
            <a:ext cx="3095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0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하루 </a:t>
            </a:r>
            <a:r>
              <a:rPr sz="30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1인 12,000원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EC6A4C-AE10-49BC-B463-A07468490534}"/>
              </a:ext>
            </a:extLst>
          </p:cNvPr>
          <p:cNvSpPr>
            <a:spLocks noGrp="1"/>
          </p:cNvSpPr>
          <p:nvPr/>
        </p:nvSpPr>
        <p:spPr>
          <a:xfrm>
            <a:off x="4943475" y="1657350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다과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36256A-9512-41B7-8335-973081CEF16A}"/>
              </a:ext>
            </a:extLst>
          </p:cNvPr>
          <p:cNvSpPr>
            <a:spLocks noGrp="1"/>
          </p:cNvSpPr>
          <p:nvPr/>
        </p:nvSpPr>
        <p:spPr>
          <a:xfrm>
            <a:off x="4943475" y="192405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0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하루 </a:t>
            </a:r>
            <a:r>
              <a:rPr sz="30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1인 </a:t>
            </a:r>
            <a:r>
              <a:rPr lang="en-US" sz="30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sz="30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,000원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3FDA30-9588-42F2-92EF-7F658F5A3A7A}"/>
              </a:ext>
            </a:extLst>
          </p:cNvPr>
          <p:cNvSpPr>
            <a:spLocks noGrp="1"/>
          </p:cNvSpPr>
          <p:nvPr/>
        </p:nvSpPr>
        <p:spPr>
          <a:xfrm>
            <a:off x="8843010" y="1657350"/>
            <a:ext cx="2419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식대 + 다과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693407-CE13-42E4-AF0D-8BDFDFF76F4C}"/>
              </a:ext>
            </a:extLst>
          </p:cNvPr>
          <p:cNvSpPr>
            <a:spLocks noGrp="1"/>
          </p:cNvSpPr>
          <p:nvPr/>
        </p:nvSpPr>
        <p:spPr>
          <a:xfrm>
            <a:off x="8843010" y="192405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0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지원금 </a:t>
            </a:r>
            <a:r>
              <a:rPr sz="30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80% </a:t>
            </a:r>
            <a:r>
              <a:rPr sz="3000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이내</a:t>
            </a:r>
            <a:endParaRPr sz="3000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BA832D-B15A-4939-827C-A428A2AF264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9927C0-486C-4890-9294-133FF4078735}"/>
              </a:ext>
            </a:extLst>
          </p:cNvPr>
          <p:cNvSpPr>
            <a:spLocks noGrp="1"/>
          </p:cNvSpPr>
          <p:nvPr/>
        </p:nvSpPr>
        <p:spPr>
          <a:xfrm>
            <a:off x="685799" y="2867024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75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가능</a:t>
            </a:r>
            <a:endParaRPr sz="1875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29CFF4-5A9D-4C15-8EA3-77063F811C6E}"/>
              </a:ext>
            </a:extLst>
          </p:cNvPr>
          <p:cNvSpPr>
            <a:spLocks noGrp="1"/>
          </p:cNvSpPr>
          <p:nvPr/>
        </p:nvSpPr>
        <p:spPr>
          <a:xfrm>
            <a:off x="685799" y="3248029"/>
            <a:ext cx="5103967" cy="19050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동아리원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50%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이상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참석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시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식대·다과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가능</a:t>
            </a:r>
            <a:endParaRPr lang="en-US" altLang="ko-KR"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식대비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결제 가능 시간 확인 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11:00~14:00 or 17:00~20:00</a:t>
            </a:r>
            <a:endParaRPr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목적에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맞는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일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회성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소모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재료</a:t>
            </a:r>
            <a:endParaRPr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박람회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입장료</a:t>
            </a:r>
            <a:endParaRPr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E38E9F-7D75-4069-A3DD-FF93D9B1E100}"/>
              </a:ext>
            </a:extLst>
          </p:cNvPr>
          <p:cNvSpPr>
            <a:spLocks noGrp="1"/>
          </p:cNvSpPr>
          <p:nvPr/>
        </p:nvSpPr>
        <p:spPr>
          <a:xfrm>
            <a:off x="6191249" y="2867024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사용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7E37B9-24A6-47A0-BE7E-14CBB2A70E96}"/>
              </a:ext>
            </a:extLst>
          </p:cNvPr>
          <p:cNvSpPr>
            <a:spLocks noGrp="1"/>
          </p:cNvSpPr>
          <p:nvPr/>
        </p:nvSpPr>
        <p:spPr>
          <a:xfrm>
            <a:off x="6191248" y="3243263"/>
            <a:ext cx="5375911" cy="30908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동아리와 관련 없는 물품 구매 불가</a:t>
            </a:r>
            <a:endParaRPr lang="en-US" altLang="ko-KR"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물품 대량 구매 불가</a:t>
            </a:r>
            <a:endParaRPr lang="en-US" altLang="ko-KR"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뷔페</a:t>
            </a:r>
            <a:r>
              <a:rPr lang="en-US" altLang="ko-KR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유흥주점</a:t>
            </a:r>
            <a:r>
              <a:rPr lang="en-US" altLang="ko-KR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주점</a:t>
            </a:r>
            <a:r>
              <a:rPr lang="en-US" altLang="ko-KR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술집</a:t>
            </a:r>
            <a:r>
              <a:rPr lang="en-US" altLang="ko-KR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주류 구매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등 사용 금지</a:t>
            </a:r>
            <a:endParaRPr lang="en-US"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분산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주문·당일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여러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곳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결제</a:t>
            </a:r>
            <a:r>
              <a:rPr 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  <a:endParaRPr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연필·공책·볼펜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등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문구류</a:t>
            </a:r>
            <a:r>
              <a:rPr 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구매 금지</a:t>
            </a:r>
            <a:endParaRPr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도서관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비치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도서·문제집</a:t>
            </a:r>
            <a:r>
              <a:rPr 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교통비·학기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말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몰아서</a:t>
            </a:r>
            <a:r>
              <a:rPr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구매</a:t>
            </a:r>
            <a:endParaRPr lang="en-US"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타 활동에 동아리 지원금 사용 금지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학과 특강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학과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비교과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식대비와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다과비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당일 함께 사용 금지</a:t>
            </a:r>
            <a:endParaRPr lang="en-US" altLang="ko-KR" sz="160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음료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음료 개수 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=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 인원 필수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인당 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5,000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원 초과 불가능</a:t>
            </a:r>
            <a:endParaRPr lang="en-US" altLang="ko-KR" sz="160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 algn="l">
              <a:lnSpc>
                <a:spcPct val="116000"/>
              </a:lnSpc>
              <a:spcAft>
                <a:spcPts val="14"/>
              </a:spcAft>
              <a:buNone/>
              <a:defRPr sz="150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altLang="ko-KR" sz="1200" b="1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Ex) </a:t>
            </a:r>
            <a:r>
              <a:rPr lang="ko-KR" altLang="en-US" sz="1200" b="1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동아리원</a:t>
            </a:r>
            <a:r>
              <a:rPr lang="en-US" altLang="ko-KR" sz="1200" b="1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A 4,000</a:t>
            </a:r>
            <a:r>
              <a:rPr lang="ko-KR" altLang="en-US" sz="1200" b="1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원 음료 구매 동아리원</a:t>
            </a:r>
            <a:r>
              <a:rPr lang="en-US" altLang="ko-KR" sz="1200" b="1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B 6,000</a:t>
            </a:r>
            <a:r>
              <a:rPr lang="ko-KR" altLang="en-US" sz="1200" b="1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원 음료 구매 불가능</a:t>
            </a:r>
            <a:endParaRPr lang="en-US" altLang="ko-KR" sz="1200" b="1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15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E561BC-A430-4744-9563-377DBF86E52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05 · 지원금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ED1F7A-964B-45C7-961D-17A697B8D16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카드는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29일까지,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증빙은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다음 달 </a:t>
            </a:r>
            <a:r>
              <a:rPr 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일까지 </a:t>
            </a:r>
            <a:r>
              <a:rPr sz="3600" b="1" dirty="0" err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제출합니다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F2B40F-0A79-494A-A2ED-23BCC4E33E36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30E3DB-A90B-43ED-BD85-5C7F11B0C0DF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E00464-1515-4659-8B96-51D5ED2F2248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EEEB3D0-344C-4DB7-844E-5AACC4FEC63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314700" cy="2038350"/>
          </a:xfrm>
          <a:prstGeom prst="roundRect">
            <a:avLst>
              <a:gd name="adj" fmla="val 5607"/>
            </a:avLst>
          </a:prstGeom>
          <a:solidFill>
            <a:srgbClr val="0B1F3A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863808-01D4-40CD-A19A-233740CEDF9D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1276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01"/>
          </a:bodyPr>
          <a:lstStyle/>
          <a:p>
            <a:pPr algn="l">
              <a:lnSpc>
                <a:spcPct val="112000"/>
              </a:lnSpc>
              <a:buNone/>
              <a:defRPr sz="57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57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C55447-6C76-418A-A637-07D81299AB87}"/>
              </a:ext>
            </a:extLst>
          </p:cNvPr>
          <p:cNvSpPr>
            <a:spLocks noGrp="1"/>
          </p:cNvSpPr>
          <p:nvPr/>
        </p:nvSpPr>
        <p:spPr>
          <a:xfrm>
            <a:off x="2076450" y="2152650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D7C131-3A22-407B-B043-1C868B3DD29B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법인카드 사용 마감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91573E-00C1-4EE2-9706-ECC2B3A1FB86}"/>
              </a:ext>
            </a:extLst>
          </p:cNvPr>
          <p:cNvSpPr>
            <a:spLocks noGrp="1"/>
          </p:cNvSpPr>
          <p:nvPr/>
        </p:nvSpPr>
        <p:spPr>
          <a:xfrm>
            <a:off x="4229100" y="1657350"/>
            <a:ext cx="3314700" cy="2038350"/>
          </a:xfrm>
          <a:prstGeom prst="roundRect">
            <a:avLst>
              <a:gd name="adj" fmla="val 5607"/>
            </a:avLst>
          </a:prstGeom>
          <a:solidFill>
            <a:srgbClr val="14B8A6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87F17C-19BA-4F59-93B9-18953DE0FA6D}"/>
              </a:ext>
            </a:extLst>
          </p:cNvPr>
          <p:cNvSpPr>
            <a:spLocks noGrp="1"/>
          </p:cNvSpPr>
          <p:nvPr/>
        </p:nvSpPr>
        <p:spPr>
          <a:xfrm>
            <a:off x="4905375" y="1790700"/>
            <a:ext cx="400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01"/>
          </a:bodyPr>
          <a:lstStyle/>
          <a:p>
            <a:pPr algn="l">
              <a:lnSpc>
                <a:spcPct val="112000"/>
              </a:lnSpc>
              <a:buNone/>
              <a:defRPr sz="57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sz="57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endParaRPr sz="57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D6DEC2-291B-4314-9AD6-0DC0756A4301}"/>
              </a:ext>
            </a:extLst>
          </p:cNvPr>
          <p:cNvSpPr>
            <a:spLocks noGrp="1"/>
          </p:cNvSpPr>
          <p:nvPr/>
        </p:nvSpPr>
        <p:spPr>
          <a:xfrm>
            <a:off x="5619750" y="2152650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B4D29D-DF56-46FF-891C-D060283F15B4}"/>
              </a:ext>
            </a:extLst>
          </p:cNvPr>
          <p:cNvSpPr>
            <a:spLocks noGrp="1"/>
          </p:cNvSpPr>
          <p:nvPr/>
        </p:nvSpPr>
        <p:spPr>
          <a:xfrm>
            <a:off x="4476750" y="2971800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8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활동보고서</a:t>
            </a:r>
            <a:r>
              <a:rPr lang="en-US" altLang="ko-KR" sz="18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  <a:r>
              <a:rPr lang="ko-KR" altLang="en-US" sz="18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증빙 제출 마감</a:t>
            </a:r>
            <a:endParaRPr sz="18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58A6C3-EB13-4EE3-AC2D-62077479C9D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결제 유의사항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28DF3-132C-47FB-8D0E-C0E1ECDE9DB7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16000"/>
              </a:lnSpc>
              <a:spcAft>
                <a:spcPts val="11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포인트 적립·할인 금지</a:t>
            </a:r>
          </a:p>
          <a:p>
            <a:pPr marL="24" indent="-14" algn="l">
              <a:lnSpc>
                <a:spcPct val="116000"/>
              </a:lnSpc>
              <a:spcAft>
                <a:spcPts val="11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영수증 훼손 금지</a:t>
            </a:r>
          </a:p>
          <a:p>
            <a:pPr marL="24" indent="-14" algn="l">
              <a:lnSpc>
                <a:spcPct val="116000"/>
              </a:lnSpc>
              <a:spcAft>
                <a:spcPts val="11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배달은 카드 매출전표 필수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5D4443-B254-46D7-ADFE-1793AA7A6E84}"/>
              </a:ext>
            </a:extLst>
          </p:cNvPr>
          <p:cNvSpPr>
            <a:spLocks noGrp="1"/>
          </p:cNvSpPr>
          <p:nvPr/>
        </p:nvSpPr>
        <p:spPr>
          <a:xfrm>
            <a:off x="4476750" y="4552950"/>
            <a:ext cx="66484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16000"/>
              </a:lnSpc>
              <a:spcAft>
                <a:spcPts val="11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혁신사업·RISE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외 타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사업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카드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 algn="l">
              <a:lnSpc>
                <a:spcPct val="116000"/>
              </a:lnSpc>
              <a:spcAft>
                <a:spcPts val="11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다른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프로그램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운영비와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동일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일시·장소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 algn="l">
              <a:lnSpc>
                <a:spcPct val="116000"/>
              </a:lnSpc>
              <a:spcAft>
                <a:spcPts val="11"/>
              </a:spcAft>
              <a:buNone/>
              <a:defRPr sz="1425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사전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승인된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금액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안에서만</a:t>
            </a:r>
            <a:r>
              <a:rPr sz="1425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25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endParaRPr sz="1425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06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736D79-D39B-415B-8140-CCE2DC41633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·</a:t>
            </a:r>
            <a:r>
              <a:rPr lang="en-US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2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지원금</a:t>
            </a:r>
            <a:endParaRPr sz="120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9F2FB-28BF-474D-9860-60ECA00A33B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운영계획서 및 역할분담 안내</a:t>
            </a:r>
            <a:endParaRPr sz="36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1CFCA2-A1B0-49DD-8C97-7765DDAFED7C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74ACA4-DC49-406B-B4E9-873D29CE0A9F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10AAA8-D54A-4EA2-846E-0808DFD111E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0682FF-0317-438E-B26C-953026E518AA}"/>
              </a:ext>
            </a:extLst>
          </p:cNvPr>
          <p:cNvSpPr>
            <a:spLocks noGrp="1"/>
          </p:cNvSpPr>
          <p:nvPr/>
        </p:nvSpPr>
        <p:spPr>
          <a:xfrm>
            <a:off x="1704973" y="2028818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회장은 부회장과 총무를 선임한 후 명단을 학생취업처 담당자에게 제출합니다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7292B7-9409-43EC-A850-6ADD05921C68}"/>
              </a:ext>
            </a:extLst>
          </p:cNvPr>
          <p:cNvSpPr>
            <a:spLocks noGrp="1"/>
          </p:cNvSpPr>
          <p:nvPr/>
        </p:nvSpPr>
        <p:spPr>
          <a:xfrm>
            <a:off x="1724025" y="2609852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2C04C5-4EDD-4A90-8105-F7B1C847600B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8ED4CF-8665-4302-9ED9-D7272F296769}"/>
              </a:ext>
            </a:extLst>
          </p:cNvPr>
          <p:cNvSpPr>
            <a:spLocks noGrp="1"/>
          </p:cNvSpPr>
          <p:nvPr/>
        </p:nvSpPr>
        <p:spPr>
          <a:xfrm>
            <a:off x="1724025" y="3009896"/>
            <a:ext cx="7630910" cy="5143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 운영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활동보고서 작성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출석 및 증빙 관리를 구성원끼리 분담합니다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638F06-07AF-4B6B-B61F-F2338F310561}"/>
              </a:ext>
            </a:extLst>
          </p:cNvPr>
          <p:cNvSpPr>
            <a:spLocks noGrp="1"/>
          </p:cNvSpPr>
          <p:nvPr/>
        </p:nvSpPr>
        <p:spPr>
          <a:xfrm>
            <a:off x="1724025" y="3600445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204169-7C5F-420F-B1AA-04D1CA004D67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39F8C4-0D3C-44CE-B7BD-114141925749}"/>
              </a:ext>
            </a:extLst>
          </p:cNvPr>
          <p:cNvSpPr>
            <a:spLocks noGrp="1"/>
          </p:cNvSpPr>
          <p:nvPr/>
        </p:nvSpPr>
        <p:spPr>
          <a:xfrm>
            <a:off x="1724025" y="3990972"/>
            <a:ext cx="7630910" cy="5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회장 한 명에게 업무가 집중되지 않도록 역할별 담당자를 정해 운영합니다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0C26057-8C1D-4874-9F21-F739FA40AC8F}"/>
              </a:ext>
            </a:extLst>
          </p:cNvPr>
          <p:cNvSpPr>
            <a:spLocks noGrp="1"/>
          </p:cNvSpPr>
          <p:nvPr/>
        </p:nvSpPr>
        <p:spPr>
          <a:xfrm>
            <a:off x="1724025" y="4610098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28B9CA-2F7E-4ECA-A82E-AC929CD06E32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B533FE-F6D1-475D-A8BC-F6774E4BC3E1}"/>
              </a:ext>
            </a:extLst>
          </p:cNvPr>
          <p:cNvSpPr>
            <a:spLocks noGrp="1"/>
          </p:cNvSpPr>
          <p:nvPr/>
        </p:nvSpPr>
        <p:spPr>
          <a:xfrm>
            <a:off x="1724025" y="4972046"/>
            <a:ext cx="6105526" cy="4191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운영계획서 제출 방법과 기한은 안내된 경로를 확인해 주세요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0EA334-484F-1478-2C2C-FD7D07241A8B}"/>
              </a:ext>
            </a:extLst>
          </p:cNvPr>
          <p:cNvSpPr>
            <a:spLocks noGrp="1"/>
          </p:cNvSpPr>
          <p:nvPr/>
        </p:nvSpPr>
        <p:spPr>
          <a:xfrm>
            <a:off x="1704973" y="5562600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83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B69F2FB-28BF-474D-9860-60ECA00A33B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운영계획서 수정</a:t>
            </a:r>
            <a:r>
              <a:rPr lang="en-US" altLang="ko-KR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36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제출 및 성과공유회 안내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1CFCA2-A1B0-49DD-8C97-7765DDAFED7C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74ACA4-DC49-406B-B4E9-873D29CE0A9F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638F06-07AF-4B6B-B61F-F2338F310561}"/>
              </a:ext>
            </a:extLst>
          </p:cNvPr>
          <p:cNvSpPr>
            <a:spLocks noGrp="1"/>
          </p:cNvSpPr>
          <p:nvPr/>
        </p:nvSpPr>
        <p:spPr>
          <a:xfrm>
            <a:off x="1704973" y="4458386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204169-7C5F-420F-B1AA-04D1CA004D67}"/>
              </a:ext>
            </a:extLst>
          </p:cNvPr>
          <p:cNvSpPr>
            <a:spLocks noGrp="1"/>
          </p:cNvSpPr>
          <p:nvPr/>
        </p:nvSpPr>
        <p:spPr>
          <a:xfrm>
            <a:off x="685800" y="4609131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sz="22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endParaRPr sz="225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39F8C4-0D3C-44CE-B7BD-114141925749}"/>
              </a:ext>
            </a:extLst>
          </p:cNvPr>
          <p:cNvSpPr>
            <a:spLocks noGrp="1"/>
          </p:cNvSpPr>
          <p:nvPr/>
        </p:nvSpPr>
        <p:spPr>
          <a:xfrm>
            <a:off x="1704973" y="4601915"/>
            <a:ext cx="9115426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운영계획서 </a:t>
            </a:r>
            <a:r>
              <a:rPr lang="ko-KR" altLang="en-US" sz="2800" dirty="0">
                <a:solidFill>
                  <a:srgbClr val="FF0000"/>
                </a:solidFill>
                <a:latin typeface="Pretendard SemiBold"/>
                <a:ea typeface="Pretendard SemiBold"/>
                <a:cs typeface="Pretendard SemiBold"/>
              </a:rPr>
              <a:t>직접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 출력 후 지도교수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학과장님 서명 후 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9. 18.(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금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까지 학생취업처 서면 제출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0C26057-8C1D-4874-9F21-F739FA40AC8F}"/>
              </a:ext>
            </a:extLst>
          </p:cNvPr>
          <p:cNvSpPr>
            <a:spLocks noGrp="1"/>
          </p:cNvSpPr>
          <p:nvPr/>
        </p:nvSpPr>
        <p:spPr>
          <a:xfrm>
            <a:off x="1704973" y="5181771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28B9CA-2F7E-4ECA-A82E-AC929CD06E32}"/>
              </a:ext>
            </a:extLst>
          </p:cNvPr>
          <p:cNvSpPr>
            <a:spLocks noGrp="1"/>
          </p:cNvSpPr>
          <p:nvPr/>
        </p:nvSpPr>
        <p:spPr>
          <a:xfrm>
            <a:off x="685800" y="5436393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sz="225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endParaRPr sz="2250" b="1" dirty="0">
              <a:solidFill>
                <a:srgbClr val="2F6B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B533FE-F6D1-475D-A8BC-F6774E4BC3E1}"/>
              </a:ext>
            </a:extLst>
          </p:cNvPr>
          <p:cNvSpPr>
            <a:spLocks noGrp="1"/>
          </p:cNvSpPr>
          <p:nvPr/>
        </p:nvSpPr>
        <p:spPr>
          <a:xfrm>
            <a:off x="1704973" y="5509021"/>
            <a:ext cx="8333511" cy="4191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전공 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· 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취업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 · 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창업동아리 성과공유회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(11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월 말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~12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월 예정</a:t>
            </a:r>
            <a:r>
              <a:rPr lang="en-US" altLang="ko-KR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), </a:t>
            </a:r>
            <a:r>
              <a:rPr lang="ko-KR" altLang="en-US" sz="20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우수 동아리 장학금 수여</a:t>
            </a:r>
            <a:endParaRPr sz="2000" b="1" dirty="0">
              <a:solidFill>
                <a:srgbClr val="0B1F3A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0EA334-484F-1478-2C2C-FD7D07241A8B}"/>
              </a:ext>
            </a:extLst>
          </p:cNvPr>
          <p:cNvSpPr>
            <a:spLocks noGrp="1"/>
          </p:cNvSpPr>
          <p:nvPr/>
        </p:nvSpPr>
        <p:spPr>
          <a:xfrm>
            <a:off x="1704973" y="6003158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4D467C9-B4B6-03DB-41CC-DC47196CBE6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FINAL CHECK</a:t>
            </a:r>
          </a:p>
        </p:txBody>
      </p:sp>
      <p:graphicFrame>
        <p:nvGraphicFramePr>
          <p:cNvPr id="9" name="다이어그램 8">
            <a:extLst>
              <a:ext uri="{FF2B5EF4-FFF2-40B4-BE49-F238E27FC236}">
                <a16:creationId xmlns:a16="http://schemas.microsoft.com/office/drawing/2014/main" id="{10FBE995-5A6D-BA9E-CB82-58D65B641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998220"/>
              </p:ext>
            </p:extLst>
          </p:nvPr>
        </p:nvGraphicFramePr>
        <p:xfrm>
          <a:off x="1704972" y="2547930"/>
          <a:ext cx="8239127" cy="1031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7262E6-3AC9-E132-4E33-27CE8E074FFE}"/>
              </a:ext>
            </a:extLst>
          </p:cNvPr>
          <p:cNvSpPr>
            <a:spLocks noGrp="1"/>
          </p:cNvSpPr>
          <p:nvPr/>
        </p:nvSpPr>
        <p:spPr>
          <a:xfrm>
            <a:off x="685800" y="1935956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9CEAFE-CAD4-A532-032B-9F901E008F00}"/>
              </a:ext>
            </a:extLst>
          </p:cNvPr>
          <p:cNvSpPr>
            <a:spLocks noGrp="1"/>
          </p:cNvSpPr>
          <p:nvPr/>
        </p:nvSpPr>
        <p:spPr>
          <a:xfrm>
            <a:off x="1704973" y="2538405"/>
            <a:ext cx="88011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EE1490-0402-220B-D9D3-C059562A7DF1}"/>
              </a:ext>
            </a:extLst>
          </p:cNvPr>
          <p:cNvSpPr>
            <a:spLocks noGrp="1"/>
          </p:cNvSpPr>
          <p:nvPr/>
        </p:nvSpPr>
        <p:spPr>
          <a:xfrm>
            <a:off x="1704973" y="2021678"/>
            <a:ext cx="8001000" cy="359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 회장이 직접 동아리 신청 인원들을 승인 처리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D91C85-8D85-5DBC-52C8-FD4336D5E60A}"/>
              </a:ext>
            </a:extLst>
          </p:cNvPr>
          <p:cNvSpPr>
            <a:spLocks noGrp="1"/>
          </p:cNvSpPr>
          <p:nvPr/>
        </p:nvSpPr>
        <p:spPr>
          <a:xfrm>
            <a:off x="1704973" y="4020895"/>
            <a:ext cx="8001000" cy="359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0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동아리원 최종 확인 및 수정 사항 확인 후 동아리 담당자에게 전달</a:t>
            </a:r>
            <a:endParaRPr sz="20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AECEDE-75F7-F8B0-F8AA-D111CCE5DACC}"/>
              </a:ext>
            </a:extLst>
          </p:cNvPr>
          <p:cNvSpPr>
            <a:spLocks noGrp="1"/>
          </p:cNvSpPr>
          <p:nvPr/>
        </p:nvSpPr>
        <p:spPr>
          <a:xfrm>
            <a:off x="685800" y="3910021"/>
            <a:ext cx="485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25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2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sz="225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  <a:endParaRPr sz="225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D2BB020-80DF-5613-FD25-0E0FEF4B592D}"/>
              </a:ext>
            </a:extLst>
          </p:cNvPr>
          <p:cNvSpPr>
            <a:spLocks noGrp="1"/>
          </p:cNvSpPr>
          <p:nvPr/>
        </p:nvSpPr>
        <p:spPr>
          <a:xfrm>
            <a:off x="7410450" y="5842412"/>
            <a:ext cx="3429000" cy="3405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b="1" dirty="0">
                <a:solidFill>
                  <a:srgbClr val="0B1F3A"/>
                </a:solidFill>
                <a:latin typeface="Batang" panose="02030600000101010101" pitchFamily="18" charset="-127"/>
                <a:ea typeface="Batang" panose="02030600000101010101" pitchFamily="18" charset="-127"/>
                <a:cs typeface="Pretendard SemiBold"/>
              </a:rPr>
              <a:t>★</a:t>
            </a:r>
            <a:r>
              <a:rPr lang="ko-KR" altLang="en-US" sz="1600" b="1" dirty="0">
                <a:solidFill>
                  <a:srgbClr val="0B1F3A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/>
              </a:rPr>
              <a:t> 자세한 내용 추후 공지 예정</a:t>
            </a:r>
            <a:endParaRPr sz="1600" b="1" dirty="0">
              <a:solidFill>
                <a:srgbClr val="0B1F3A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16757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FEC8EE-6F38-4261-82AD-7D8F9F03FF2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FINAL CHECK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4BE607-CA7C-4735-8CBA-49908D3630F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06"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36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결제 전·보고서 제출 전, 이것만 확인하세요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12DCF3-A8BE-451E-A37B-1D676834198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A7D88D-C164-406E-ABAF-47AFA2B50B28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975" b="0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오산대학교 학생취업처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99AA27-482D-46AF-8945-DE0AD13F1C55}"/>
              </a:ext>
            </a:extLst>
          </p:cNvPr>
          <p:cNvSpPr>
            <a:spLocks noGrp="1"/>
          </p:cNvSpPr>
          <p:nvPr/>
        </p:nvSpPr>
        <p:spPr>
          <a:xfrm>
            <a:off x="10839450" y="6448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125" b="1">
                <a:solidFill>
                  <a:srgbClr val="8A94A6"/>
                </a:solidFill>
                <a:latin typeface="Pretendard SemiBold"/>
                <a:ea typeface="Pretendard SemiBold"/>
                <a:cs typeface="Pretendard SemiBold"/>
              </a:rPr>
              <a:t>16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F80555-EE3B-449F-80FB-DFEEDC1EC2FE}"/>
              </a:ext>
            </a:extLst>
          </p:cNvPr>
          <p:cNvSpPr>
            <a:spLocks noGrp="1"/>
          </p:cNvSpPr>
          <p:nvPr/>
        </p:nvSpPr>
        <p:spPr>
          <a:xfrm>
            <a:off x="504825" y="1657350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결제 가능 시간</a:t>
            </a:r>
            <a:endParaRPr sz="1600" b="1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7CB3F5-5F52-4C69-85E1-3762907AA448}"/>
              </a:ext>
            </a:extLst>
          </p:cNvPr>
          <p:cNvSpPr>
            <a:spLocks noGrp="1"/>
          </p:cNvSpPr>
          <p:nvPr/>
        </p:nvSpPr>
        <p:spPr>
          <a:xfrm>
            <a:off x="504825" y="19240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 b="1" dirty="0" err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점심</a:t>
            </a:r>
            <a:r>
              <a:rPr sz="21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 11</a:t>
            </a:r>
            <a:r>
              <a:rPr lang="en-US" altLang="ko-KR" sz="21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–</a:t>
            </a:r>
            <a:r>
              <a:rPr sz="21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14시 · </a:t>
            </a:r>
            <a:r>
              <a:rPr sz="2100" b="1" dirty="0" err="1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저녁</a:t>
            </a:r>
            <a:r>
              <a:rPr sz="21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 17</a:t>
            </a:r>
            <a:r>
              <a:rPr lang="en-US" altLang="ko-KR" sz="21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–</a:t>
            </a:r>
            <a:r>
              <a:rPr sz="2100" b="1" dirty="0">
                <a:solidFill>
                  <a:srgbClr val="2F6BFF"/>
                </a:solidFill>
                <a:latin typeface="Pretendard SemiBold"/>
                <a:ea typeface="Pretendard SemiBold"/>
                <a:cs typeface="Pretendard SemiBold"/>
              </a:rPr>
              <a:t>20시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EC6A4C-AE10-49BC-B463-A07468490534}"/>
              </a:ext>
            </a:extLst>
          </p:cNvPr>
          <p:cNvSpPr>
            <a:spLocks noGrp="1"/>
          </p:cNvSpPr>
          <p:nvPr/>
        </p:nvSpPr>
        <p:spPr>
          <a:xfrm>
            <a:off x="4181475" y="1628775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식대·다과</a:t>
            </a:r>
            <a:r>
              <a:rPr sz="1600" b="1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sz="1600" b="1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비율</a:t>
            </a:r>
            <a:endParaRPr sz="1600" b="1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36256A-9512-41B7-8335-973081CEF16A}"/>
              </a:ext>
            </a:extLst>
          </p:cNvPr>
          <p:cNvSpPr>
            <a:spLocks noGrp="1"/>
          </p:cNvSpPr>
          <p:nvPr/>
        </p:nvSpPr>
        <p:spPr>
          <a:xfrm>
            <a:off x="4181475" y="1895475"/>
            <a:ext cx="3676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500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지원금 80% </a:t>
            </a:r>
            <a:r>
              <a:rPr sz="2500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이내</a:t>
            </a:r>
            <a:r>
              <a:rPr lang="en-US" sz="25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2500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사용 가능</a:t>
            </a:r>
            <a:endParaRPr sz="2500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3FDA30-9588-42F2-92EF-7F658F5A3A7A}"/>
              </a:ext>
            </a:extLst>
          </p:cNvPr>
          <p:cNvSpPr>
            <a:spLocks noGrp="1"/>
          </p:cNvSpPr>
          <p:nvPr/>
        </p:nvSpPr>
        <p:spPr>
          <a:xfrm>
            <a:off x="8143875" y="1628775"/>
            <a:ext cx="2419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00" b="1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1인당 </a:t>
            </a: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사용</a:t>
            </a:r>
            <a:r>
              <a:rPr sz="1600" b="1" dirty="0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b="1" dirty="0" err="1">
                <a:solidFill>
                  <a:srgbClr val="5B6475"/>
                </a:solidFill>
                <a:latin typeface="Pretendard SemiBold"/>
                <a:ea typeface="Pretendard SemiBold"/>
                <a:cs typeface="Pretendard SemiBold"/>
              </a:rPr>
              <a:t>한도</a:t>
            </a:r>
            <a:endParaRPr sz="1600" b="1" dirty="0">
              <a:solidFill>
                <a:srgbClr val="5B647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693407-CE13-42E4-AF0D-8BDFDFF76F4C}"/>
              </a:ext>
            </a:extLst>
          </p:cNvPr>
          <p:cNvSpPr>
            <a:spLocks noGrp="1"/>
          </p:cNvSpPr>
          <p:nvPr/>
        </p:nvSpPr>
        <p:spPr>
          <a:xfrm>
            <a:off x="8143875" y="1895475"/>
            <a:ext cx="373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00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23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식대 </a:t>
            </a:r>
            <a:r>
              <a:rPr lang="en-US" altLang="ko-KR" sz="23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12,000</a:t>
            </a:r>
            <a:r>
              <a:rPr lang="ko-KR" altLang="en-US" sz="23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원 · 다과 5</a:t>
            </a:r>
            <a:r>
              <a:rPr lang="en-US" altLang="ko-KR" sz="23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,000</a:t>
            </a:r>
            <a:r>
              <a:rPr lang="ko-KR" altLang="en-US" sz="2300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원</a:t>
            </a:r>
            <a:endParaRPr sz="2300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BA832D-B15A-4939-827C-A428A2AF264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9927C0-486C-4890-9294-133FF4078735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활동보고서</a:t>
            </a:r>
            <a:r>
              <a:rPr sz="1875" b="1" dirty="0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75" b="1" dirty="0" err="1">
                <a:solidFill>
                  <a:srgbClr val="14B8A6"/>
                </a:solidFill>
                <a:latin typeface="Pretendard SemiBold"/>
                <a:ea typeface="Pretendard SemiBold"/>
                <a:cs typeface="Pretendard SemiBold"/>
              </a:rPr>
              <a:t>제출·사진</a:t>
            </a:r>
            <a:endParaRPr sz="1875" b="1" dirty="0">
              <a:solidFill>
                <a:srgbClr val="14B8A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29CFF4-5A9D-4C15-8EA3-77063F811C6E}"/>
              </a:ext>
            </a:extLst>
          </p:cNvPr>
          <p:cNvSpPr>
            <a:spLocks noGrp="1"/>
          </p:cNvSpPr>
          <p:nvPr/>
        </p:nvSpPr>
        <p:spPr>
          <a:xfrm>
            <a:off x="685800" y="3486149"/>
            <a:ext cx="5248275" cy="19050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marL="24" indent="-14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장면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과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출석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인원이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모두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보이는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사진</a:t>
            </a:r>
            <a:r>
              <a:rPr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첨부</a:t>
            </a:r>
            <a:endParaRPr lang="en-US" sz="165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활동 당일 활동보고서 </a:t>
            </a:r>
            <a:r>
              <a:rPr lang="en-US" altLang="ko-KR" sz="165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altLang="ko-KR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00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자 이상 작성</a:t>
            </a:r>
            <a:endParaRPr lang="en-US" altLang="ko-KR" sz="165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지원금 사용 시 증빙 자료 필수 첨부</a:t>
            </a:r>
            <a:endParaRPr lang="en-US" altLang="ko-KR" sz="165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10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  </a:t>
            </a:r>
            <a:r>
              <a:rPr lang="en-US" altLang="ko-KR" sz="160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- </a:t>
            </a:r>
            <a:r>
              <a:rPr lang="ko-KR" altLang="en-US" sz="160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식대비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다과비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영수증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endParaRPr lang="en-US" altLang="ko-KR" sz="160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10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  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-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재료비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영수증 </a:t>
            </a:r>
            <a:r>
              <a:rPr lang="ko-KR" altLang="en-US" sz="160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붙임철</a:t>
            </a:r>
            <a:r>
              <a:rPr lang="en-US" altLang="ko-KR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  <a:r>
              <a:rPr lang="ko-KR" altLang="en-US" sz="160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검수조서</a:t>
            </a:r>
            <a:endParaRPr lang="en-US" sz="160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작성한 활동보고서 출력 후 증빙 자료와 함께 지도교수</a:t>
            </a:r>
            <a:r>
              <a:rPr lang="en-US" altLang="ko-KR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altLang="ko-KR" sz="165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lang="ko-KR" altLang="en-US" sz="1650" b="0" dirty="0" err="1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참여학생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서명 받고 매월 </a:t>
            </a:r>
            <a:r>
              <a:rPr lang="en-US" altLang="ko-KR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lang="ko-KR" altLang="en-US" sz="16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일까지 학생취업처 서면 제출</a:t>
            </a:r>
          </a:p>
          <a:p>
            <a:pPr marL="24" indent="-14" algn="l">
              <a:lnSpc>
                <a:spcPct val="116000"/>
              </a:lnSpc>
              <a:spcAft>
                <a:spcPts val="14"/>
              </a:spcAft>
              <a:buNone/>
              <a:defRPr sz="16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endParaRPr lang="en-US" altLang="ko-KR" sz="165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E38E9F-7D75-4069-A3DD-FF93D9B1E100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531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활동내용</a:t>
            </a:r>
            <a:r>
              <a:rPr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75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작성</a:t>
            </a:r>
            <a:r>
              <a:rPr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75" b="1" dirty="0" err="1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  <a:r>
              <a:rPr 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875" b="1" dirty="0">
                <a:solidFill>
                  <a:srgbClr val="F45B69"/>
                </a:solidFill>
                <a:latin typeface="Pretendard SemiBold"/>
                <a:ea typeface="Pretendard SemiBold"/>
                <a:cs typeface="Pretendard SemiBold"/>
              </a:rPr>
              <a:t>및 첨부 불가한 사진 </a:t>
            </a:r>
            <a:endParaRPr sz="1875" b="1" dirty="0">
              <a:solidFill>
                <a:srgbClr val="F45B69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7E37B9-24A6-47A0-BE7E-14CBB2A70E96}"/>
              </a:ext>
            </a:extLst>
          </p:cNvPr>
          <p:cNvSpPr>
            <a:spLocks noGrp="1"/>
          </p:cNvSpPr>
          <p:nvPr/>
        </p:nvSpPr>
        <p:spPr>
          <a:xfrm>
            <a:off x="6191250" y="3486150"/>
            <a:ext cx="49339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>
              <a:lnSpc>
                <a:spcPct val="116000"/>
              </a:lnSpc>
              <a:spcAft>
                <a:spcPts val="14"/>
              </a:spcAft>
              <a:defRPr sz="15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5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친목도모 · 회식 · 식사 내용 및 사진</a:t>
            </a:r>
            <a:endParaRPr lang="en-US" altLang="ko-KR" sz="155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5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학과 홍보 · 입시에 관한 내용 및 사진</a:t>
            </a:r>
            <a:endParaRPr lang="en-US" altLang="ko-KR" sz="155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400" dirty="0">
                <a:solidFill>
                  <a:srgbClr val="172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〮 </a:t>
            </a:r>
            <a:r>
              <a:rPr lang="ko-KR" altLang="en-US" sz="15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학과에서 진행한 특강</a:t>
            </a:r>
            <a:r>
              <a:rPr lang="ko-KR" altLang="en-US" sz="155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관한 내용</a:t>
            </a:r>
            <a:r>
              <a:rPr lang="ko-KR" altLang="en-US" sz="1550" b="0" dirty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rPr>
              <a:t>   </a:t>
            </a:r>
            <a:endParaRPr lang="en-US" altLang="ko-KR" sz="1550" b="0" dirty="0">
              <a:solidFill>
                <a:srgbClr val="172033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24" indent="-14">
              <a:lnSpc>
                <a:spcPct val="116000"/>
              </a:lnSpc>
              <a:spcAft>
                <a:spcPts val="14"/>
              </a:spcAft>
              <a:defRPr sz="1550" b="0">
                <a:solidFill>
                  <a:srgbClr val="172033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ko-KR" altLang="en-US" sz="1550" b="0" dirty="0">
                <a:solidFill>
                  <a:schemeClr val="accent2"/>
                </a:solidFill>
                <a:latin typeface="Pretendard SemiBold"/>
                <a:ea typeface="Pretendard SemiBold"/>
                <a:cs typeface="Pretendard SemiBold"/>
              </a:rPr>
              <a:t>위 내용은 활동 내용에 작성하지 않습니다.</a:t>
            </a:r>
            <a:endParaRPr lang="en-US" altLang="ko-KR" sz="1550" b="0" dirty="0">
              <a:solidFill>
                <a:schemeClr val="accent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C3A2BF-8F1E-4D6F-B852-DA4A54651099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514350"/>
          </a:xfrm>
          <a:prstGeom prst="roundRect">
            <a:avLst>
              <a:gd name="adj" fmla="val 22222"/>
            </a:avLst>
          </a:prstGeom>
          <a:solidFill>
            <a:srgbClr val="FFF8E5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16B6AA-6C76-4C0B-8A29-1C36D3D4444E}"/>
              </a:ext>
            </a:extLst>
          </p:cNvPr>
          <p:cNvSpPr>
            <a:spLocks noGrp="1"/>
          </p:cNvSpPr>
          <p:nvPr/>
        </p:nvSpPr>
        <p:spPr>
          <a:xfrm>
            <a:off x="914400" y="5638800"/>
            <a:ext cx="1036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12000"/>
              </a:lnSpc>
              <a:defRPr sz="1500" b="1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lang="en-US" altLang="ko-KR" sz="1500" b="1" dirty="0"/>
              <a:t>※ </a:t>
            </a:r>
            <a:r>
              <a:rPr lang="ko-KR" altLang="en-US" sz="1500" b="1" dirty="0"/>
              <a:t>애매하거나 궁금한 사항은 임의로 진행 </a:t>
            </a:r>
            <a:r>
              <a:rPr lang="en-US" altLang="ko-KR" sz="1500" b="1" dirty="0"/>
              <a:t>X, </a:t>
            </a:r>
            <a:r>
              <a:rPr lang="ko-KR" altLang="en-US" sz="1500" b="1" dirty="0"/>
              <a:t>결제 또는 제출 전에 반드시 담당자에게 문의해 주세요</a:t>
            </a:r>
            <a:r>
              <a:rPr lang="ko-KR" altLang="en-US" sz="1500" b="1" dirty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sz="1500" b="1" dirty="0">
              <a:solidFill>
                <a:srgbClr val="0B1F3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7536" y="81972"/>
            <a:ext cx="858978" cy="2215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25" y="92599"/>
            <a:ext cx="891151" cy="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832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2146</Words>
  <Application>Microsoft Office PowerPoint</Application>
  <DocSecurity>0</DocSecurity>
  <PresentationFormat>와이드스크린</PresentationFormat>
  <Paragraphs>446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맑은 고딕</vt:lpstr>
      <vt:lpstr>Calibri</vt:lpstr>
      <vt:lpstr>Pretendard SemiBold</vt:lpstr>
      <vt:lpstr>Batang</vt:lpstr>
      <vt:lpstr>MS Gothic</vt:lpstr>
      <vt:lpstr>Noto Sans KR Black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진 한</cp:lastModifiedBy>
  <cp:revision>25</cp:revision>
  <cp:lastPrinted>2026-09-15T04:11:07Z</cp:lastPrinted>
  <dcterms:created xsi:type="dcterms:W3CDTF">2026-09-03T01:26:13Z</dcterms:created>
  <dcterms:modified xsi:type="dcterms:W3CDTF">2026-10-13T00:52:26Z</dcterms:modified>
</cp:coreProperties>
</file>